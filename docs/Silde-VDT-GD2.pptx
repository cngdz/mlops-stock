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embeddedFontLst>
    <p:embeddedFont>
      <p:font typeface="Be Vietnam Pro" pitchFamily="34" charset="0"/>
      <p:regular r:id="rId24"/>
      <p:bold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73762"/>
            <a:ext cx="10566400" cy="408940"/>
          </a:xfrm>
          <a:prstGeom prst="rect">
            <a:avLst/>
          </a:prstGeom>
          <a:noFill/>
          <a:ln/>
        </p:spPr>
        <p:txBody>
          <a:bodyPr wrap="square" lIns="0" tIns="0" rIns="0" bIns="0" rtlCol="0" anchor="t"/>
          <a:lstStyle>
            <a:lvl1pPr algn="l" indent="0" marL="0">
              <a:lnSpc>
                <a:spcPct val="115000"/>
              </a:lnSpc>
              <a:buNone/>
              <a:defRPr lang="en-US" sz="2800" dirty="0">
                <a:solidFill>
                  <a:srgbClr val="1F2328"/>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587502"/>
            <a:ext cx="10566400" cy="4457698"/>
          </a:xfrm>
          <a:prstGeom prst="rect">
            <a:avLst/>
          </a:prstGeom>
          <a:noFill/>
          <a:ln/>
        </p:spPr>
        <p:txBody>
          <a:bodyPr wrap="square" lIns="0" tIns="0" rIns="0" bIns="0" rtlCol="0" anchor="t"/>
          <a:lstStyle>
            <a:lvl1pPr algn="l" indent="0" marL="0">
              <a:lnSpc>
                <a:spcPct val="140000"/>
              </a:lnSpc>
              <a:buNone/>
              <a:defRPr lang="en-US" sz="1600" dirty="0">
                <a:solidFill>
                  <a:srgbClr val="1F2328"/>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73762"/>
            <a:ext cx="10566400" cy="408940"/>
          </a:xfrm>
          <a:prstGeom prst="rect">
            <a:avLst/>
          </a:prstGeom>
          <a:noFill/>
          <a:ln/>
        </p:spPr>
        <p:txBody>
          <a:bodyPr wrap="square" lIns="0" tIns="0" rIns="0" bIns="0" rtlCol="0" anchor="t"/>
          <a:lstStyle>
            <a:lvl1pPr algn="l" indent="0" marL="0">
              <a:lnSpc>
                <a:spcPct val="115000"/>
              </a:lnSpc>
              <a:buNone/>
              <a:defRPr lang="en-US" sz="2800" dirty="0">
                <a:solidFill>
                  <a:srgbClr val="1F2328"/>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587502"/>
            <a:ext cx="10566400" cy="4457698"/>
          </a:xfrm>
          <a:prstGeom prst="rect">
            <a:avLst/>
          </a:prstGeom>
          <a:noFill/>
          <a:ln/>
        </p:spPr>
        <p:txBody>
          <a:bodyPr wrap="square" lIns="0" tIns="0" rIns="0" bIns="0" rtlCol="0" anchor="t"/>
          <a:lstStyle>
            <a:lvl1pPr algn="l" indent="0" marL="0">
              <a:lnSpc>
                <a:spcPct val="140000"/>
              </a:lnSpc>
              <a:buNone/>
              <a:defRPr lang="en-US" sz="1600" dirty="0">
                <a:solidFill>
                  <a:srgbClr val="1F2328"/>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8"/>
        </a:solidFill>
      </p:bgPr>
    </p:bg>
    <p:spTree>
      <p:nvGrpSpPr>
        <p:cNvPr id="1" name=""/>
        <p:cNvGrpSpPr/>
        <p:nvPr/>
      </p:nvGrpSpPr>
      <p:grpSpPr>
        <a:xfrm>
          <a:off x="0" y="0"/>
          <a:ext cx="0" cy="0"/>
          <a:chOff x="0" y="0"/>
          <a:chExt cx="0" cy="0"/>
        </a:xfrm>
      </p:grpSpPr>
      <p:sp>
        <p:nvSpPr>
          <p:cNvPr id="2" name="Shape 0"/>
          <p:cNvSpPr/>
          <p:nvPr/>
        </p:nvSpPr>
        <p:spPr>
          <a:xfrm>
            <a:off x="711200" y="609600"/>
            <a:ext cx="76200" cy="5638800"/>
          </a:xfrm>
          <a:prstGeom prst="rect">
            <a:avLst/>
          </a:prstGeom>
          <a:solidFill>
            <a:srgbClr val="22386B"/>
          </a:solidFill>
          <a:ln/>
        </p:spPr>
      </p:sp>
      <p:sp>
        <p:nvSpPr>
          <p:cNvPr id="3" name="Text 1"/>
          <p:cNvSpPr/>
          <p:nvPr/>
        </p:nvSpPr>
        <p:spPr>
          <a:xfrm>
            <a:off x="1219200" y="1912620"/>
            <a:ext cx="10464800"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F5D8A"/>
                </a:solidFill>
                <a:latin typeface="Be Vietnam Pro" pitchFamily="34" charset="0"/>
                <a:ea typeface="Be Vietnam Pro" pitchFamily="34" charset="-122"/>
                <a:cs typeface="Be Vietnam Pro" pitchFamily="34" charset="-120"/>
              </a:rPr>
              <a:t>CHƯƠNG TRÌNH VDT · ĐỀ TÀI MLOPS</a:t>
            </a:r>
            <a:endParaRPr lang="en-US" sz="1400" dirty="0"/>
          </a:p>
        </p:txBody>
      </p:sp>
      <p:sp>
        <p:nvSpPr>
          <p:cNvPr id="4" name="Text 2"/>
          <p:cNvSpPr/>
          <p:nvPr>
            <p:ph type="title"/>
          </p:nvPr>
        </p:nvSpPr>
        <p:spPr>
          <a:xfrm>
            <a:off x="1219200" y="2364740"/>
            <a:ext cx="10464800" cy="13665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22386B"/>
                </a:solidFill>
                <a:latin typeface="Be Vietnam Pro" pitchFamily="34" charset="0"/>
                <a:ea typeface="Be Vietnam Pro" pitchFamily="34" charset="-122"/>
                <a:cs typeface="Be Vietnam Pro" pitchFamily="34" charset="-120"/>
              </a:rPr>
              <a:t>Xây dựng nền tảng MLOps cho dự báo dữ liệu chứng khoán</a:t>
            </a:r>
            <a:endParaRPr lang="en-US" sz="4800" dirty="0"/>
          </a:p>
        </p:txBody>
      </p:sp>
      <p:pic>
        <p:nvPicPr>
          <p:cNvPr id="5" name="Image 0" descr="line">    </p:cNvPr>
          <p:cNvPicPr>
            <a:picLocks noChangeAspect="1"/>
          </p:cNvPicPr>
          <p:nvPr/>
        </p:nvPicPr>
        <p:blipFill>
          <a:blip r:embed="rId1"/>
          <a:srcRect l="0" r="0" t="0" b="0"/>
          <a:stretch/>
        </p:blipFill>
        <p:spPr>
          <a:xfrm>
            <a:off x="1219200" y="3909060"/>
            <a:ext cx="1524000" cy="25400"/>
          </a:xfrm>
          <a:prstGeom prst="rect">
            <a:avLst/>
          </a:prstGeom>
        </p:spPr>
      </p:pic>
      <p:sp>
        <p:nvSpPr>
          <p:cNvPr id="6" name="Text 3"/>
          <p:cNvSpPr/>
          <p:nvPr/>
        </p:nvSpPr>
        <p:spPr>
          <a:xfrm>
            <a:off x="1219200" y="4137660"/>
            <a:ext cx="10464800"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328"/>
                </a:solidFill>
                <a:latin typeface="Be Vietnam Pro" pitchFamily="34" charset="0"/>
                <a:ea typeface="Be Vietnam Pro" pitchFamily="34" charset="-122"/>
                <a:cs typeface="Be Vietnam Pro" pitchFamily="34" charset="-120"/>
              </a:rPr>
              <a:t>Luồng MLOps end-to-end · 3 bài toán margin · 6 model</a:t>
            </a:r>
            <a:endParaRPr lang="en-US" sz="1800" dirty="0"/>
          </a:p>
        </p:txBody>
      </p:sp>
      <p:sp>
        <p:nvSpPr>
          <p:cNvPr id="7" name="Text 4"/>
          <p:cNvSpPr/>
          <p:nvPr/>
        </p:nvSpPr>
        <p:spPr>
          <a:xfrm>
            <a:off x="1219200" y="4660900"/>
            <a:ext cx="104648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7606A"/>
                </a:solidFill>
                <a:latin typeface="Be Vietnam Pro" pitchFamily="34" charset="0"/>
                <a:ea typeface="Be Vietnam Pro" pitchFamily="34" charset="-122"/>
                <a:cs typeface="Be Vietnam Pro" pitchFamily="34" charset="-120"/>
              </a:rPr>
              <a:t>Vũ Mạnh Cường - Mentor: Nguyễn Ngọc Long</a:t>
            </a:r>
            <a:endParaRPr lang="en-US" sz="1600" dirty="0"/>
          </a:p>
        </p:txBody>
      </p:sp>
      <p:sp>
        <p:nvSpPr>
          <p:cNvPr id="8" name="Text 5"/>
          <p:cNvSpPr/>
          <p:nvPr/>
        </p:nvSpPr>
        <p:spPr>
          <a:xfrm>
            <a:off x="1219200" y="623824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VDT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8A"/>
                </a:solidFill>
                <a:latin typeface="Be Vietnam Pro" pitchFamily="34" charset="0"/>
                <a:ea typeface="Be Vietnam Pro" pitchFamily="34" charset="-122"/>
                <a:cs typeface="Be Vietnam Pro" pitchFamily="34" charset="-120"/>
              </a:rPr>
              <a:t>Giới thiệu</a:t>
            </a:r>
            <a:endParaRPr lang="en-US" sz="1200" dirty="0"/>
          </a:p>
        </p:txBody>
      </p:sp>
      <p:sp>
        <p:nvSpPr>
          <p:cNvPr id="3" name="Text 1"/>
          <p:cNvSpPr/>
          <p:nvPr>
            <p:ph type="title"/>
          </p:nvPr>
        </p:nvSpPr>
        <p:spPr>
          <a:xfrm>
            <a:off x="812800" y="873760"/>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28"/>
                </a:solidFill>
                <a:latin typeface="Be Vietnam Pro" pitchFamily="34" charset="0"/>
                <a:ea typeface="Be Vietnam Pro" pitchFamily="34" charset="-122"/>
                <a:cs typeface="Be Vietnam Pro" pitchFamily="34" charset="-120"/>
              </a:rPr>
              <a:t>Vấn đề</a:t>
            </a:r>
            <a:endParaRPr lang="en-US" sz="2800" dirty="0"/>
          </a:p>
        </p:txBody>
      </p:sp>
      <p:sp>
        <p:nvSpPr>
          <p:cNvPr id="4" name="Text 2"/>
          <p:cNvSpPr/>
          <p:nvPr/>
        </p:nvSpPr>
        <p:spPr>
          <a:xfrm>
            <a:off x="812800" y="1638300"/>
            <a:ext cx="981075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F2328"/>
                </a:solidFill>
                <a:latin typeface="Be Vietnam Pro" pitchFamily="34" charset="0"/>
                <a:ea typeface="Be Vietnam Pro" pitchFamily="34" charset="-122"/>
                <a:cs typeface="Be Vietnam Pro" pitchFamily="34" charset="-120"/>
              </a:rPr>
              <a:t>Công ty chứng khoán cho vay margin, nhưng không thể liên hệ mọi khách hàng mỗi ngày. Cần biết </a:t>
            </a:r>
            <a:r>
              <a:rPr lang="en-US" sz="2200" b="1" dirty="0">
                <a:solidFill>
                  <a:srgbClr val="1F2328"/>
                </a:solidFill>
                <a:latin typeface="Be Vietnam Pro" pitchFamily="34" charset="0"/>
                <a:ea typeface="Be Vietnam Pro" pitchFamily="34" charset="-122"/>
                <a:cs typeface="Be Vietnam Pro" pitchFamily="34" charset="-120"/>
              </a:rPr>
              <a:t>nên gọi ai trước</a:t>
            </a:r>
            <a:r>
              <a:rPr lang="en-US" sz="2200" dirty="0">
                <a:solidFill>
                  <a:srgbClr val="1F2328"/>
                </a:solidFill>
                <a:latin typeface="Be Vietnam Pro" pitchFamily="34" charset="0"/>
                <a:ea typeface="Be Vietnam Pro" pitchFamily="34" charset="-122"/>
                <a:cs typeface="Be Vietnam Pro" pitchFamily="34" charset="-120"/>
              </a:rPr>
              <a:t>.</a:t>
            </a:r>
            <a:endParaRPr lang="en-US" sz="2200" dirty="0"/>
          </a:p>
        </p:txBody>
      </p:sp>
      <p:sp>
        <p:nvSpPr>
          <p:cNvPr id="5" name="Shape 3"/>
          <p:cNvSpPr/>
          <p:nvPr/>
        </p:nvSpPr>
        <p:spPr>
          <a:xfrm>
            <a:off x="815975" y="2723515"/>
            <a:ext cx="3380264" cy="1111250"/>
          </a:xfrm>
          <a:prstGeom prst="roundRect">
            <a:avLst>
              <a:gd name="adj" fmla="val 6571"/>
            </a:avLst>
          </a:prstGeom>
          <a:noFill/>
          <a:ln w="6350">
            <a:solidFill>
              <a:srgbClr val="DDDFDB"/>
            </a:solidFill>
            <a:prstDash val="solid"/>
          </a:ln>
        </p:spPr>
      </p:sp>
      <p:sp>
        <p:nvSpPr>
          <p:cNvPr id="6" name="Text 4"/>
          <p:cNvSpPr/>
          <p:nvPr/>
        </p:nvSpPr>
        <p:spPr>
          <a:xfrm>
            <a:off x="1071880" y="2979420"/>
            <a:ext cx="295450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328"/>
                </a:solidFill>
                <a:latin typeface="Be Vietnam Pro" pitchFamily="34" charset="0"/>
                <a:ea typeface="Be Vietnam Pro" pitchFamily="34" charset="-122"/>
                <a:cs typeface="Be Vietnam Pro" pitchFamily="34" charset="-120"/>
              </a:rPr>
              <a:t>Chậm</a:t>
            </a:r>
            <a:endParaRPr lang="en-US" sz="1800" dirty="0"/>
          </a:p>
        </p:txBody>
      </p:sp>
      <p:sp>
        <p:nvSpPr>
          <p:cNvPr id="7" name="Text 5"/>
          <p:cNvSpPr/>
          <p:nvPr/>
        </p:nvSpPr>
        <p:spPr>
          <a:xfrm>
            <a:off x="1071880" y="3329940"/>
            <a:ext cx="295450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7606A"/>
                </a:solidFill>
                <a:latin typeface="Be Vietnam Pro" pitchFamily="34" charset="0"/>
                <a:ea typeface="Be Vietnam Pro" pitchFamily="34" charset="-122"/>
                <a:cs typeface="Be Vietnam Pro" pitchFamily="34" charset="-120"/>
              </a:rPr>
              <a:t>Chọn khách hàng thủ công</a:t>
            </a:r>
            <a:endParaRPr lang="en-US" sz="1400" dirty="0"/>
          </a:p>
        </p:txBody>
      </p:sp>
      <p:sp>
        <p:nvSpPr>
          <p:cNvPr id="8" name="Shape 6"/>
          <p:cNvSpPr/>
          <p:nvPr/>
        </p:nvSpPr>
        <p:spPr>
          <a:xfrm>
            <a:off x="4405789" y="2723515"/>
            <a:ext cx="3380343" cy="1111250"/>
          </a:xfrm>
          <a:prstGeom prst="roundRect">
            <a:avLst>
              <a:gd name="adj" fmla="val 6571"/>
            </a:avLst>
          </a:prstGeom>
          <a:noFill/>
          <a:ln w="6350">
            <a:solidFill>
              <a:srgbClr val="DDDFDB"/>
            </a:solidFill>
            <a:prstDash val="solid"/>
          </a:ln>
        </p:spPr>
      </p:sp>
      <p:sp>
        <p:nvSpPr>
          <p:cNvPr id="9" name="Text 7"/>
          <p:cNvSpPr/>
          <p:nvPr/>
        </p:nvSpPr>
        <p:spPr>
          <a:xfrm>
            <a:off x="4661694" y="297942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328"/>
                </a:solidFill>
                <a:latin typeface="Be Vietnam Pro" pitchFamily="34" charset="0"/>
                <a:ea typeface="Be Vietnam Pro" pitchFamily="34" charset="-122"/>
                <a:cs typeface="Be Vietnam Pro" pitchFamily="34" charset="-120"/>
              </a:rPr>
              <a:t>Không nhất quán</a:t>
            </a:r>
            <a:endParaRPr lang="en-US" sz="1800" dirty="0"/>
          </a:p>
        </p:txBody>
      </p:sp>
      <p:sp>
        <p:nvSpPr>
          <p:cNvPr id="10" name="Text 8"/>
          <p:cNvSpPr/>
          <p:nvPr/>
        </p:nvSpPr>
        <p:spPr>
          <a:xfrm>
            <a:off x="4661694" y="3329940"/>
            <a:ext cx="29545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7606A"/>
                </a:solidFill>
                <a:latin typeface="Be Vietnam Pro" pitchFamily="34" charset="0"/>
                <a:ea typeface="Be Vietnam Pro" pitchFamily="34" charset="-122"/>
                <a:cs typeface="Be Vietnam Pro" pitchFamily="34" charset="-120"/>
              </a:rPr>
              <a:t>Mỗi người chọn một kiểu</a:t>
            </a:r>
            <a:endParaRPr lang="en-US" sz="1400" dirty="0"/>
          </a:p>
        </p:txBody>
      </p:sp>
      <p:sp>
        <p:nvSpPr>
          <p:cNvPr id="11" name="Shape 9"/>
          <p:cNvSpPr/>
          <p:nvPr/>
        </p:nvSpPr>
        <p:spPr>
          <a:xfrm>
            <a:off x="7995682" y="2723515"/>
            <a:ext cx="3380343" cy="1111250"/>
          </a:xfrm>
          <a:prstGeom prst="roundRect">
            <a:avLst>
              <a:gd name="adj" fmla="val 6571"/>
            </a:avLst>
          </a:prstGeom>
          <a:noFill/>
          <a:ln w="6350">
            <a:solidFill>
              <a:srgbClr val="DDDFDB"/>
            </a:solidFill>
            <a:prstDash val="solid"/>
          </a:ln>
        </p:spPr>
      </p:sp>
      <p:sp>
        <p:nvSpPr>
          <p:cNvPr id="12" name="Text 10"/>
          <p:cNvSpPr/>
          <p:nvPr/>
        </p:nvSpPr>
        <p:spPr>
          <a:xfrm>
            <a:off x="8251587" y="297942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328"/>
                </a:solidFill>
                <a:latin typeface="Be Vietnam Pro" pitchFamily="34" charset="0"/>
                <a:ea typeface="Be Vietnam Pro" pitchFamily="34" charset="-122"/>
                <a:cs typeface="Be Vietnam Pro" pitchFamily="34" charset="-120"/>
              </a:rPr>
              <a:t>Khó đo hiệu quả</a:t>
            </a:r>
            <a:endParaRPr lang="en-US" sz="1800" dirty="0"/>
          </a:p>
        </p:txBody>
      </p:sp>
      <p:sp>
        <p:nvSpPr>
          <p:cNvPr id="13" name="Text 11"/>
          <p:cNvSpPr/>
          <p:nvPr/>
        </p:nvSpPr>
        <p:spPr>
          <a:xfrm>
            <a:off x="8251587" y="3329940"/>
            <a:ext cx="29545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7606A"/>
                </a:solidFill>
                <a:latin typeface="Be Vietnam Pro" pitchFamily="34" charset="0"/>
                <a:ea typeface="Be Vietnam Pro" pitchFamily="34" charset="-122"/>
                <a:cs typeface="Be Vietnam Pro" pitchFamily="34" charset="-120"/>
              </a:rPr>
              <a:t>Không biết chọn đúng hay sai</a:t>
            </a:r>
            <a:endParaRPr lang="en-US" sz="1400" dirty="0"/>
          </a:p>
        </p:txBody>
      </p:sp>
      <p:sp>
        <p:nvSpPr>
          <p:cNvPr id="14" name="Text 12"/>
          <p:cNvSpPr/>
          <p:nvPr/>
        </p:nvSpPr>
        <p:spPr>
          <a:xfrm>
            <a:off x="812800" y="419354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F5D8A"/>
                </a:solidFill>
                <a:latin typeface="Be Vietnam Pro" pitchFamily="34" charset="0"/>
                <a:ea typeface="Be Vietnam Pro" pitchFamily="34" charset="-122"/>
                <a:cs typeface="Be Vietnam Pro" pitchFamily="34" charset="-120"/>
              </a:rPr>
              <a:t>Giải pháp:</a:t>
            </a:r>
            <a:r>
              <a:rPr lang="en-US" sz="1600" dirty="0">
                <a:solidFill>
                  <a:srgbClr val="2F5D8A"/>
                </a:solidFill>
                <a:latin typeface="Be Vietnam Pro" pitchFamily="34" charset="0"/>
                <a:ea typeface="Be Vietnam Pro" pitchFamily="34" charset="-122"/>
                <a:cs typeface="Be Vietnam Pro" pitchFamily="34" charset="-120"/>
              </a:rPr>
              <a:t> hệ thống MLOps tự động chấm điểm khách hàng mỗi ngày, từ dữ liệu đến dịch vụ.</a:t>
            </a:r>
            <a:endParaRPr lang="en-US" sz="1600" dirty="0"/>
          </a:p>
        </p:txBody>
      </p:sp>
      <p:sp>
        <p:nvSpPr>
          <p:cNvPr id="15" name="Text 13"/>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VDT</a:t>
            </a:r>
            <a:endParaRPr lang="en-US" sz="1200" dirty="0"/>
          </a:p>
        </p:txBody>
      </p:sp>
      <p:sp>
        <p:nvSpPr>
          <p:cNvPr id="16" name="Text 14"/>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8A"/>
                </a:solidFill>
                <a:latin typeface="Be Vietnam Pro" pitchFamily="34" charset="0"/>
                <a:ea typeface="Be Vietnam Pro" pitchFamily="34" charset="-122"/>
                <a:cs typeface="Be Vietnam Pro" pitchFamily="34" charset="-120"/>
              </a:rPr>
              <a:t>Giới thiệu</a:t>
            </a:r>
            <a:endParaRPr lang="en-US" sz="1200" dirty="0"/>
          </a:p>
        </p:txBody>
      </p:sp>
      <p:sp>
        <p:nvSpPr>
          <p:cNvPr id="3" name="Text 1"/>
          <p:cNvSpPr/>
          <p:nvPr>
            <p:ph type="title"/>
          </p:nvPr>
        </p:nvSpPr>
        <p:spPr>
          <a:xfrm>
            <a:off x="812800" y="8737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28"/>
                </a:solidFill>
                <a:latin typeface="Be Vietnam Pro" pitchFamily="34" charset="0"/>
                <a:ea typeface="Be Vietnam Pro" pitchFamily="34" charset="-122"/>
                <a:cs typeface="Be Vietnam Pro" pitchFamily="34" charset="-120"/>
              </a:rPr>
              <a:t>Ba bài toán, sáu model</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648460"/>
          <a:ext cx="10556240" cy="1747520"/>
        </p:xfrm>
        <a:graphic>
          <a:graphicData uri="http://schemas.openxmlformats.org/drawingml/2006/table">
            <a:tbl>
              <a:tblPr/>
              <a:tblGrid>
                <a:gridCol w="2955747"/>
                <a:gridCol w="4011371"/>
                <a:gridCol w="1477874"/>
                <a:gridCol w="2111248"/>
              </a:tblGrid>
              <a:tr h="436880">
                <a:tc>
                  <a:txBody>
                    <a:bodyPr/>
                    <a:lstStyle/>
                    <a:p>
                      <a:pPr indent="0" marL="0">
                        <a:lnSpc>
                          <a:spcPts val="2240"/>
                        </a:lnSpc>
                        <a:buNone/>
                      </a:pPr>
                      <a:r>
                        <a:rPr lang="en-US" sz="1600" b="1" dirty="0">
                          <a:solidFill>
                            <a:srgbClr val="1F2328"/>
                          </a:solidFill>
                          <a:latin typeface="Be Vietnam Pro" pitchFamily="34" charset="0"/>
                          <a:ea typeface="Be Vietnam Pro" pitchFamily="34" charset="-122"/>
                          <a:cs typeface="Be Vietnam Pro" pitchFamily="34" charset="-120"/>
                        </a:rPr>
                        <a:t>Bài toán</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7C7C6"/>
                      </a:solidFill>
                      <a:prstDash val="solid"/>
                      <a:round/>
                      <a:headEnd type="none" w="med" len="med"/>
                      <a:tailEnd type="none" w="med" len="med"/>
                    </a:lnL>
                    <a:lnR w="12700" cap="flat" cmpd="sng" algn="ctr">
                      <a:solidFill>
                        <a:srgbClr val="B9B9B8"/>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B9B9B8"/>
                      </a:solidFill>
                      <a:prstDash val="solid"/>
                      <a:round/>
                      <a:headEnd type="none" w="med" len="med"/>
                      <a:tailEnd type="none" w="med" len="med"/>
                    </a:lnB>
                    <a:solidFill>
                      <a:srgbClr val="E8E8E6"/>
                    </a:solidFill>
                  </a:tcPr>
                </a:tc>
                <a:tc>
                  <a:txBody>
                    <a:bodyPr/>
                    <a:lstStyle/>
                    <a:p>
                      <a:pPr indent="0" marL="0">
                        <a:lnSpc>
                          <a:spcPts val="2240"/>
                        </a:lnSpc>
                        <a:buNone/>
                      </a:pPr>
                      <a:r>
                        <a:rPr lang="en-US" sz="1600" b="1" dirty="0">
                          <a:solidFill>
                            <a:srgbClr val="1F2328"/>
                          </a:solidFill>
                          <a:latin typeface="Be Vietnam Pro" pitchFamily="34" charset="0"/>
                          <a:ea typeface="Be Vietnam Pro" pitchFamily="34" charset="-122"/>
                          <a:cs typeface="Be Vietnam Pro" pitchFamily="34" charset="-120"/>
                        </a:rPr>
                        <a:t>Câu hỏi</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B9B9B8"/>
                      </a:solidFill>
                      <a:prstDash val="solid"/>
                      <a:round/>
                      <a:headEnd type="none" w="med" len="med"/>
                      <a:tailEnd type="none" w="med" len="med"/>
                    </a:lnL>
                    <a:lnR w="12700" cap="flat" cmpd="sng" algn="ctr">
                      <a:solidFill>
                        <a:srgbClr val="B9B9B8"/>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B9B9B8"/>
                      </a:solidFill>
                      <a:prstDash val="solid"/>
                      <a:round/>
                      <a:headEnd type="none" w="med" len="med"/>
                      <a:tailEnd type="none" w="med" len="med"/>
                    </a:lnB>
                    <a:solidFill>
                      <a:srgbClr val="E8E8E6"/>
                    </a:solidFill>
                  </a:tcPr>
                </a:tc>
                <a:tc>
                  <a:txBody>
                    <a:bodyPr/>
                    <a:lstStyle/>
                    <a:p>
                      <a:pPr indent="0" marL="0">
                        <a:lnSpc>
                          <a:spcPts val="2240"/>
                        </a:lnSpc>
                        <a:buNone/>
                      </a:pPr>
                      <a:r>
                        <a:rPr lang="en-US" sz="1600" b="1" dirty="0">
                          <a:solidFill>
                            <a:srgbClr val="1F2328"/>
                          </a:solidFill>
                          <a:latin typeface="Be Vietnam Pro" pitchFamily="34" charset="0"/>
                          <a:ea typeface="Be Vietnam Pro" pitchFamily="34" charset="-122"/>
                          <a:cs typeface="Be Vietnam Pro" pitchFamily="34" charset="-120"/>
                        </a:rPr>
                        <a:t>Nhãn</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B9B9B8"/>
                      </a:solidFill>
                      <a:prstDash val="solid"/>
                      <a:round/>
                      <a:headEnd type="none" w="med" len="med"/>
                      <a:tailEnd type="none" w="med" len="med"/>
                    </a:lnL>
                    <a:lnR w="12700" cap="flat" cmpd="sng" algn="ctr">
                      <a:solidFill>
                        <a:srgbClr val="B9B9B8"/>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B9B9B8"/>
                      </a:solidFill>
                      <a:prstDash val="solid"/>
                      <a:round/>
                      <a:headEnd type="none" w="med" len="med"/>
                      <a:tailEnd type="none" w="med" len="med"/>
                    </a:lnB>
                    <a:solidFill>
                      <a:srgbClr val="E8E8E6"/>
                    </a:solidFill>
                  </a:tcPr>
                </a:tc>
                <a:tc>
                  <a:txBody>
                    <a:bodyPr/>
                    <a:lstStyle/>
                    <a:p>
                      <a:pPr indent="0" marL="0">
                        <a:lnSpc>
                          <a:spcPts val="2240"/>
                        </a:lnSpc>
                        <a:buNone/>
                      </a:pPr>
                      <a:r>
                        <a:rPr lang="en-US" sz="1600" b="1" dirty="0">
                          <a:solidFill>
                            <a:srgbClr val="1F2328"/>
                          </a:solidFill>
                          <a:latin typeface="Be Vietnam Pro" pitchFamily="34" charset="0"/>
                          <a:ea typeface="Be Vietnam Pro" pitchFamily="34" charset="-122"/>
                          <a:cs typeface="Be Vietnam Pro" pitchFamily="34" charset="-120"/>
                        </a:rPr>
                        <a:t>Model</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B9B9B8"/>
                      </a:solidFill>
                      <a:prstDash val="solid"/>
                      <a:round/>
                      <a:headEnd type="none" w="med" len="med"/>
                      <a:tailEnd type="none" w="med" len="med"/>
                    </a:lnL>
                    <a:lnR w="12700" cap="flat" cmpd="sng" algn="ctr">
                      <a:solidFill>
                        <a:srgbClr val="B9B9B8"/>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B9B9B8"/>
                      </a:solidFill>
                      <a:prstDash val="solid"/>
                      <a:round/>
                      <a:headEnd type="none" w="med" len="med"/>
                      <a:tailEnd type="none" w="med" len="med"/>
                    </a:lnB>
                    <a:solidFill>
                      <a:srgbClr val="E8E8E6"/>
                    </a:solidFill>
                  </a:tcPr>
                </a:tc>
              </a:tr>
              <a:tr h="436880">
                <a:tc>
                  <a:txBody>
                    <a:bodyPr/>
                    <a:lstStyle/>
                    <a:p>
                      <a:pPr indent="0" marL="0">
                        <a:lnSpc>
                          <a:spcPts val="2240"/>
                        </a:lnSpc>
                        <a:buNone/>
                      </a:pPr>
                      <a:r>
                        <a:rPr lang="en-US" sz="1600" dirty="0">
                          <a:solidFill>
                            <a:srgbClr val="1F2328"/>
                          </a:solidFill>
                          <a:latin typeface="Be Vietnam Pro" pitchFamily="34" charset="0"/>
                          <a:ea typeface="Be Vietnam Pro" pitchFamily="34" charset="-122"/>
                          <a:cs typeface="Be Vietnam Pro" pitchFamily="34" charset="-120"/>
                        </a:rPr>
                        <a:t>loan_propensity</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B9B9B8"/>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2240"/>
                        </a:lnSpc>
                        <a:buNone/>
                      </a:pPr>
                      <a:r>
                        <a:rPr lang="en-US" sz="1600" dirty="0">
                          <a:solidFill>
                            <a:srgbClr val="1F2328"/>
                          </a:solidFill>
                          <a:latin typeface="Be Vietnam Pro" pitchFamily="34" charset="0"/>
                          <a:ea typeface="Be Vietnam Pro" pitchFamily="34" charset="-122"/>
                          <a:cs typeface="Be Vietnam Pro" pitchFamily="34" charset="-120"/>
                        </a:rPr>
                        <a:t>Có giải ngân margin mới?</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B9B9B8"/>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2240"/>
                        </a:lnSpc>
                        <a:buNone/>
                      </a:pPr>
                      <a:r>
                        <a:rPr lang="en-US" sz="1600" dirty="0">
                          <a:solidFill>
                            <a:srgbClr val="1F2328"/>
                          </a:solidFill>
                          <a:latin typeface="Be Vietnam Pro" pitchFamily="34" charset="0"/>
                          <a:ea typeface="Be Vietnam Pro" pitchFamily="34" charset="-122"/>
                          <a:cs typeface="Be Vietnam Pro" pitchFamily="34" charset="-120"/>
                        </a:rPr>
                        <a:t>30 ngày</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B9B9B8"/>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2240"/>
                        </a:lnSpc>
                        <a:buNone/>
                      </a:pPr>
                      <a:r>
                        <a:rPr lang="en-US" sz="1600" dirty="0">
                          <a:solidFill>
                            <a:srgbClr val="1F2328"/>
                          </a:solidFill>
                          <a:latin typeface="Be Vietnam Pro" pitchFamily="34" charset="0"/>
                          <a:ea typeface="Be Vietnam Pro" pitchFamily="34" charset="-122"/>
                          <a:cs typeface="Be Vietnam Pro" pitchFamily="34" charset="-120"/>
                        </a:rPr>
                        <a:t>3 (nu / lu / au)</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B9B9B8"/>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r>
              <a:tr h="436880">
                <a:tc>
                  <a:txBody>
                    <a:bodyPr/>
                    <a:lstStyle/>
                    <a:p>
                      <a:pPr indent="0" marL="0">
                        <a:lnSpc>
                          <a:spcPts val="2240"/>
                        </a:lnSpc>
                        <a:buNone/>
                      </a:pPr>
                      <a:r>
                        <a:rPr lang="en-US" sz="1600" dirty="0">
                          <a:solidFill>
                            <a:srgbClr val="1F2328"/>
                          </a:solidFill>
                          <a:latin typeface="Be Vietnam Pro" pitchFamily="34" charset="0"/>
                          <a:ea typeface="Be Vietnam Pro" pitchFamily="34" charset="-122"/>
                          <a:cs typeface="Be Vietnam Pro" pitchFamily="34" charset="-120"/>
                        </a:rPr>
                        <a:t>overdue_risk</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2240"/>
                        </a:lnSpc>
                        <a:buNone/>
                      </a:pPr>
                      <a:r>
                        <a:rPr lang="en-US" sz="1600" dirty="0">
                          <a:solidFill>
                            <a:srgbClr val="1F2328"/>
                          </a:solidFill>
                          <a:latin typeface="Be Vietnam Pro" pitchFamily="34" charset="0"/>
                          <a:ea typeface="Be Vietnam Pro" pitchFamily="34" charset="-122"/>
                          <a:cs typeface="Be Vietnam Pro" pitchFamily="34" charset="-120"/>
                        </a:rPr>
                        <a:t>Có bắt đầu quá hạn?</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2240"/>
                        </a:lnSpc>
                        <a:buNone/>
                      </a:pPr>
                      <a:r>
                        <a:rPr lang="en-US" sz="1600" dirty="0">
                          <a:solidFill>
                            <a:srgbClr val="1F2328"/>
                          </a:solidFill>
                          <a:latin typeface="Be Vietnam Pro" pitchFamily="34" charset="0"/>
                          <a:ea typeface="Be Vietnam Pro" pitchFamily="34" charset="-122"/>
                          <a:cs typeface="Be Vietnam Pro" pitchFamily="34" charset="-120"/>
                        </a:rPr>
                        <a:t>30 ngày</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2240"/>
                        </a:lnSpc>
                        <a:buNone/>
                      </a:pPr>
                      <a:r>
                        <a:rPr lang="en-US" sz="1600" dirty="0">
                          <a:solidFill>
                            <a:srgbClr val="1F2328"/>
                          </a:solidFill>
                          <a:latin typeface="Be Vietnam Pro" pitchFamily="34" charset="0"/>
                          <a:ea typeface="Be Vietnam Pro" pitchFamily="34" charset="-122"/>
                          <a:cs typeface="Be Vietnam Pro" pitchFamily="34" charset="-120"/>
                        </a:rPr>
                        <a:t>2 (lu / au)</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r>
              <a:tr h="436880">
                <a:tc>
                  <a:txBody>
                    <a:bodyPr/>
                    <a:lstStyle/>
                    <a:p>
                      <a:pPr indent="0" marL="0">
                        <a:lnSpc>
                          <a:spcPts val="2240"/>
                        </a:lnSpc>
                        <a:buNone/>
                      </a:pPr>
                      <a:r>
                        <a:rPr lang="en-US" sz="1600" dirty="0">
                          <a:solidFill>
                            <a:srgbClr val="1F2328"/>
                          </a:solidFill>
                          <a:latin typeface="Be Vietnam Pro" pitchFamily="34" charset="0"/>
                          <a:ea typeface="Be Vietnam Pro" pitchFamily="34" charset="-122"/>
                          <a:cs typeface="Be Vietnam Pro" pitchFamily="34" charset="-120"/>
                        </a:rPr>
                        <a:t>campaign_response</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2240"/>
                        </a:lnSpc>
                        <a:buNone/>
                      </a:pPr>
                      <a:r>
                        <a:rPr lang="en-US" sz="1600" dirty="0">
                          <a:solidFill>
                            <a:srgbClr val="1F2328"/>
                          </a:solidFill>
                          <a:latin typeface="Be Vietnam Pro" pitchFamily="34" charset="0"/>
                          <a:ea typeface="Be Vietnam Pro" pitchFamily="34" charset="-122"/>
                          <a:cs typeface="Be Vietnam Pro" pitchFamily="34" charset="-120"/>
                        </a:rPr>
                        <a:t>Có giải ngân sau chiến dịch?</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2240"/>
                        </a:lnSpc>
                        <a:buNone/>
                      </a:pPr>
                      <a:r>
                        <a:rPr lang="en-US" sz="1600" dirty="0">
                          <a:solidFill>
                            <a:srgbClr val="1F2328"/>
                          </a:solidFill>
                          <a:latin typeface="Be Vietnam Pro" pitchFamily="34" charset="0"/>
                          <a:ea typeface="Be Vietnam Pro" pitchFamily="34" charset="-122"/>
                          <a:cs typeface="Be Vietnam Pro" pitchFamily="34" charset="-120"/>
                        </a:rPr>
                        <a:t>14 ngày</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2240"/>
                        </a:lnSpc>
                        <a:buNone/>
                      </a:pPr>
                      <a:r>
                        <a:rPr lang="en-US" sz="1600" dirty="0">
                          <a:solidFill>
                            <a:srgbClr val="1F2328"/>
                          </a:solidFill>
                          <a:latin typeface="Be Vietnam Pro" pitchFamily="34" charset="0"/>
                          <a:ea typeface="Be Vietnam Pro" pitchFamily="34" charset="-122"/>
                          <a:cs typeface="Be Vietnam Pro" pitchFamily="34" charset="-120"/>
                        </a:rPr>
                        <a:t>1 (chung)</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r>
            </a:tbl>
          </a:graphicData>
        </a:graphic>
      </p:graphicFrame>
      <p:sp>
        <p:nvSpPr>
          <p:cNvPr id="5" name="Text 2"/>
          <p:cNvSpPr/>
          <p:nvPr/>
        </p:nvSpPr>
        <p:spPr>
          <a:xfrm>
            <a:off x="812800" y="3751580"/>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7606A"/>
                </a:solidFill>
                <a:latin typeface="Be Vietnam Pro" pitchFamily="34" charset="0"/>
                <a:ea typeface="Be Vietnam Pro" pitchFamily="34" charset="-122"/>
                <a:cs typeface="Be Vietnam Pro" pitchFamily="34" charset="-120"/>
              </a:rPr>
              <a:t>Cả ba dùng chung nguồn Gold, chung 6 bảng fs_* và chung hạ tầng. Các slide sau lấy </a:t>
            </a:r>
            <a:r>
              <a:rPr lang="en-US" sz="1600" b="1" dirty="0">
                <a:solidFill>
                  <a:srgbClr val="57606A"/>
                </a:solidFill>
                <a:latin typeface="Be Vietnam Pro" pitchFamily="34" charset="0"/>
                <a:ea typeface="Be Vietnam Pro" pitchFamily="34" charset="-122"/>
                <a:cs typeface="Be Vietnam Pro" pitchFamily="34" charset="-120"/>
              </a:rPr>
              <a:t>loan_propensity</a:t>
            </a:r>
            <a:r>
              <a:rPr lang="en-US" sz="1600" dirty="0">
                <a:solidFill>
                  <a:srgbClr val="57606A"/>
                </a:solidFill>
                <a:latin typeface="Be Vietnam Pro" pitchFamily="34" charset="0"/>
                <a:ea typeface="Be Vietnam Pro" pitchFamily="34" charset="-122"/>
                <a:cs typeface="Be Vietnam Pro" pitchFamily="34" charset="-120"/>
              </a:rPr>
              <a:t> làm ví dụ.</a:t>
            </a:r>
            <a:endParaRPr lang="en-US" sz="1600" dirty="0"/>
          </a:p>
        </p:txBody>
      </p:sp>
      <p:sp>
        <p:nvSpPr>
          <p:cNvPr id="6" name="Text 3"/>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VDT</a:t>
            </a:r>
            <a:endParaRPr lang="en-US" sz="1200" dirty="0"/>
          </a:p>
        </p:txBody>
      </p:sp>
      <p:sp>
        <p:nvSpPr>
          <p:cNvPr id="7" name="Text 4"/>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8A"/>
                </a:solidFill>
                <a:latin typeface="Be Vietnam Pro" pitchFamily="34" charset="0"/>
                <a:ea typeface="Be Vietnam Pro" pitchFamily="34" charset="-122"/>
                <a:cs typeface="Be Vietnam Pro" pitchFamily="34" charset="-120"/>
              </a:rPr>
              <a:t>Giới thiệu</a:t>
            </a:r>
            <a:endParaRPr lang="en-US" sz="1200" dirty="0"/>
          </a:p>
        </p:txBody>
      </p:sp>
      <p:sp>
        <p:nvSpPr>
          <p:cNvPr id="3" name="Text 1"/>
          <p:cNvSpPr/>
          <p:nvPr>
            <p:ph type="title"/>
          </p:nvPr>
        </p:nvSpPr>
        <p:spPr>
          <a:xfrm>
            <a:off x="812800" y="8737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28"/>
                </a:solidFill>
                <a:latin typeface="Be Vietnam Pro" pitchFamily="34" charset="0"/>
                <a:ea typeface="Be Vietnam Pro" pitchFamily="34" charset="-122"/>
                <a:cs typeface="Be Vietnam Pro" pitchFamily="34" charset="-120"/>
              </a:rPr>
              <a:t>Dòng dữ liệu</a:t>
            </a:r>
            <a:endParaRPr lang="en-US" sz="2800" dirty="0"/>
          </a:p>
        </p:txBody>
      </p:sp>
      <p:pic>
        <p:nvPicPr>
          <p:cNvPr id="4" name="Image 0" descr="Dòng dữ liệu: 8 bảng Gold sang 6 bảng fs_* và 3 nhãn, vào huấn luyện, ra điểm mỗi ngày">    </p:cNvPr>
          <p:cNvPicPr>
            <a:picLocks noChangeAspect="1"/>
          </p:cNvPicPr>
          <p:nvPr/>
        </p:nvPicPr>
        <p:blipFill>
          <a:blip r:embed="rId1"/>
          <a:srcRect l="0" r="0" t="-805" b="-805"/>
          <a:stretch/>
        </p:blipFill>
        <p:spPr>
          <a:xfrm>
            <a:off x="812800" y="1638300"/>
            <a:ext cx="10566400" cy="2032000"/>
          </a:xfrm>
          <a:prstGeom prst="rect">
            <a:avLst/>
          </a:prstGeom>
        </p:spPr>
      </p:pic>
      <p:sp>
        <p:nvSpPr>
          <p:cNvPr id="5" name="Shape 2"/>
          <p:cNvSpPr/>
          <p:nvPr/>
        </p:nvSpPr>
        <p:spPr>
          <a:xfrm>
            <a:off x="812800" y="4038600"/>
            <a:ext cx="3386614" cy="0"/>
          </a:xfrm>
          <a:prstGeom prst="line">
            <a:avLst/>
          </a:prstGeom>
          <a:noFill/>
          <a:ln w="25400">
            <a:solidFill>
              <a:srgbClr val="2F5D8A"/>
            </a:solidFill>
            <a:prstDash val="solid"/>
          </a:ln>
        </p:spPr>
      </p:sp>
      <p:sp>
        <p:nvSpPr>
          <p:cNvPr id="6" name="Text 3"/>
          <p:cNvSpPr/>
          <p:nvPr/>
        </p:nvSpPr>
        <p:spPr>
          <a:xfrm>
            <a:off x="812800" y="4203700"/>
            <a:ext cx="348821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328"/>
                </a:solidFill>
                <a:latin typeface="Be Vietnam Pro" pitchFamily="34" charset="0"/>
                <a:ea typeface="Be Vietnam Pro" pitchFamily="34" charset="-122"/>
                <a:cs typeface="Be Vietnam Pro" pitchFamily="34" charset="-120"/>
              </a:rPr>
              <a:t>8 bảng Gold</a:t>
            </a:r>
            <a:endParaRPr lang="en-US" sz="1800" dirty="0"/>
          </a:p>
        </p:txBody>
      </p:sp>
      <p:sp>
        <p:nvSpPr>
          <p:cNvPr id="7" name="Text 4"/>
          <p:cNvSpPr/>
          <p:nvPr/>
        </p:nvSpPr>
        <p:spPr>
          <a:xfrm>
            <a:off x="812800" y="4528820"/>
            <a:ext cx="348821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7606A"/>
                </a:solidFill>
                <a:latin typeface="Be Vietnam Pro" pitchFamily="34" charset="0"/>
                <a:ea typeface="Be Vietnam Pro" pitchFamily="34" charset="-122"/>
                <a:cs typeface="Be Vietnam Pro" pitchFamily="34" charset="-120"/>
              </a:rPr>
              <a:t>Khách hàng, giao dịch, margin, giá, danh mục, chiến dịch</a:t>
            </a:r>
            <a:endParaRPr lang="en-US" sz="1400" dirty="0"/>
          </a:p>
        </p:txBody>
      </p:sp>
      <p:sp>
        <p:nvSpPr>
          <p:cNvPr id="8" name="Shape 5"/>
          <p:cNvSpPr/>
          <p:nvPr/>
        </p:nvSpPr>
        <p:spPr>
          <a:xfrm>
            <a:off x="4402614" y="4038600"/>
            <a:ext cx="3386693" cy="0"/>
          </a:xfrm>
          <a:prstGeom prst="line">
            <a:avLst/>
          </a:prstGeom>
          <a:noFill/>
          <a:ln w="25400">
            <a:solidFill>
              <a:srgbClr val="2F5D8A"/>
            </a:solidFill>
            <a:prstDash val="solid"/>
          </a:ln>
        </p:spPr>
      </p:sp>
      <p:sp>
        <p:nvSpPr>
          <p:cNvPr id="9" name="Text 6"/>
          <p:cNvSpPr/>
          <p:nvPr/>
        </p:nvSpPr>
        <p:spPr>
          <a:xfrm>
            <a:off x="4402614" y="4203700"/>
            <a:ext cx="348829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328"/>
                </a:solidFill>
                <a:latin typeface="Be Vietnam Pro" pitchFamily="34" charset="0"/>
                <a:ea typeface="Be Vietnam Pro" pitchFamily="34" charset="-122"/>
                <a:cs typeface="Be Vietnam Pro" pitchFamily="34" charset="-120"/>
              </a:rPr>
              <a:t>6 nhóm đặc trưng</a:t>
            </a:r>
            <a:endParaRPr lang="en-US" sz="1800" dirty="0"/>
          </a:p>
        </p:txBody>
      </p:sp>
      <p:sp>
        <p:nvSpPr>
          <p:cNvPr id="10" name="Text 7"/>
          <p:cNvSpPr/>
          <p:nvPr/>
        </p:nvSpPr>
        <p:spPr>
          <a:xfrm>
            <a:off x="4402614" y="4528820"/>
            <a:ext cx="3488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7606A"/>
                </a:solidFill>
                <a:latin typeface="Be Vietnam Pro" pitchFamily="34" charset="0"/>
                <a:ea typeface="Be Vietnam Pro" pitchFamily="34" charset="-122"/>
                <a:cs typeface="Be Vietnam Pro" pitchFamily="34" charset="-120"/>
              </a:rPr>
              <a:t>Tính theo ngày, cửa sổ 7 và 30 ngày</a:t>
            </a:r>
            <a:endParaRPr lang="en-US" sz="1400" dirty="0"/>
          </a:p>
        </p:txBody>
      </p:sp>
      <p:sp>
        <p:nvSpPr>
          <p:cNvPr id="11" name="Shape 8"/>
          <p:cNvSpPr/>
          <p:nvPr/>
        </p:nvSpPr>
        <p:spPr>
          <a:xfrm>
            <a:off x="7992507" y="4038600"/>
            <a:ext cx="3386693" cy="0"/>
          </a:xfrm>
          <a:prstGeom prst="line">
            <a:avLst/>
          </a:prstGeom>
          <a:noFill/>
          <a:ln w="25400">
            <a:solidFill>
              <a:srgbClr val="2F5D8A"/>
            </a:solidFill>
            <a:prstDash val="solid"/>
          </a:ln>
        </p:spPr>
      </p:sp>
      <p:sp>
        <p:nvSpPr>
          <p:cNvPr id="12" name="Text 9"/>
          <p:cNvSpPr/>
          <p:nvPr/>
        </p:nvSpPr>
        <p:spPr>
          <a:xfrm>
            <a:off x="7992507" y="4203700"/>
            <a:ext cx="348829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328"/>
                </a:solidFill>
                <a:latin typeface="Be Vietnam Pro" pitchFamily="34" charset="0"/>
                <a:ea typeface="Be Vietnam Pro" pitchFamily="34" charset="-122"/>
                <a:cs typeface="Be Vietnam Pro" pitchFamily="34" charset="-120"/>
              </a:rPr>
              <a:t>Nhãn tách riêng</a:t>
            </a:r>
            <a:endParaRPr lang="en-US" sz="1800" dirty="0"/>
          </a:p>
        </p:txBody>
      </p:sp>
      <p:sp>
        <p:nvSpPr>
          <p:cNvPr id="13" name="Text 10"/>
          <p:cNvSpPr/>
          <p:nvPr/>
        </p:nvSpPr>
        <p:spPr>
          <a:xfrm>
            <a:off x="7992507" y="4528820"/>
            <a:ext cx="348829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7606A"/>
                </a:solidFill>
                <a:latin typeface="Be Vietnam Pro" pitchFamily="34" charset="0"/>
                <a:ea typeface="Be Vietnam Pro" pitchFamily="34" charset="-122"/>
                <a:cs typeface="Be Vietnam Pro" pitchFamily="34" charset="-120"/>
              </a:rPr>
              <a:t>Nhìn về tương lai, không nằm trong fs_*</a:t>
            </a:r>
            <a:endParaRPr lang="en-US" sz="1400" dirty="0"/>
          </a:p>
        </p:txBody>
      </p:sp>
      <p:sp>
        <p:nvSpPr>
          <p:cNvPr id="14" name="Text 11"/>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VDT</a:t>
            </a:r>
            <a:endParaRPr lang="en-US" sz="1200" dirty="0"/>
          </a:p>
        </p:txBody>
      </p:sp>
      <p:sp>
        <p:nvSpPr>
          <p:cNvPr id="15" name="Text 12"/>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8A"/>
                </a:solidFill>
                <a:latin typeface="Be Vietnam Pro" pitchFamily="34" charset="0"/>
                <a:ea typeface="Be Vietnam Pro" pitchFamily="34" charset="-122"/>
                <a:cs typeface="Be Vietnam Pro" pitchFamily="34" charset="-120"/>
              </a:rPr>
              <a:t>Kiến trúc</a:t>
            </a:r>
            <a:endParaRPr lang="en-US" sz="1200" dirty="0"/>
          </a:p>
        </p:txBody>
      </p:sp>
      <p:sp>
        <p:nvSpPr>
          <p:cNvPr id="3" name="Text 1"/>
          <p:cNvSpPr/>
          <p:nvPr>
            <p:ph type="title"/>
          </p:nvPr>
        </p:nvSpPr>
        <p:spPr>
          <a:xfrm>
            <a:off x="812800" y="8737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28"/>
                </a:solidFill>
                <a:latin typeface="Be Vietnam Pro" pitchFamily="34" charset="0"/>
                <a:ea typeface="Be Vietnam Pro" pitchFamily="34" charset="-122"/>
                <a:cs typeface="Be Vietnam Pro" pitchFamily="34" charset="-120"/>
              </a:rPr>
              <a:t>Kiến trúc tổng quan trên Kubernetes</a:t>
            </a:r>
            <a:endParaRPr lang="en-US" sz="2800" dirty="0"/>
          </a:p>
        </p:txBody>
      </p:sp>
      <p:pic>
        <p:nvPicPr>
          <p:cNvPr id="4" name="Image 0" descr="Sơ đồ kiến trúc: namespace airflow, pipeline, mlops, argocd, serving; MinIO và PostgreSQL lưu dữ liệu">    </p:cNvPr>
          <p:cNvPicPr>
            <a:picLocks noChangeAspect="1"/>
          </p:cNvPicPr>
          <p:nvPr/>
        </p:nvPicPr>
        <p:blipFill>
          <a:blip r:embed="rId1"/>
          <a:srcRect l="-119" r="-119" t="0" b="0"/>
          <a:stretch/>
        </p:blipFill>
        <p:spPr>
          <a:xfrm>
            <a:off x="819150" y="1543050"/>
            <a:ext cx="10553700" cy="3594100"/>
          </a:xfrm>
          <a:prstGeom prst="roundRect">
            <a:avLst>
              <a:gd name="adj" fmla="val 1943"/>
            </a:avLst>
          </a:prstGeom>
        </p:spPr>
      </p:pic>
      <p:sp>
        <p:nvSpPr>
          <p:cNvPr id="5" name="Shape 2"/>
          <p:cNvSpPr/>
          <p:nvPr/>
        </p:nvSpPr>
        <p:spPr>
          <a:xfrm>
            <a:off x="815975" y="1539875"/>
            <a:ext cx="10560050" cy="3600450"/>
          </a:xfrm>
          <a:prstGeom prst="roundRect">
            <a:avLst>
              <a:gd name="adj" fmla="val 2028"/>
            </a:avLst>
          </a:prstGeom>
          <a:noFill/>
          <a:ln w="6350">
            <a:solidFill>
              <a:srgbClr val="DDDFDB"/>
            </a:solidFill>
            <a:prstDash val="solid"/>
          </a:ln>
        </p:spPr>
      </p:sp>
      <p:sp>
        <p:nvSpPr>
          <p:cNvPr id="6" name="Text 3"/>
          <p:cNvSpPr/>
          <p:nvPr/>
        </p:nvSpPr>
        <p:spPr>
          <a:xfrm>
            <a:off x="812800" y="5397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328"/>
                </a:solidFill>
                <a:latin typeface="Be Vietnam Pro" pitchFamily="34" charset="0"/>
                <a:ea typeface="Be Vietnam Pro" pitchFamily="34" charset="-122"/>
                <a:cs typeface="Be Vietnam Pro" pitchFamily="34" charset="-120"/>
              </a:rPr>
              <a:t>Airflow</a:t>
            </a:r>
            <a:r>
              <a:rPr lang="en-US" sz="1500" dirty="0">
                <a:solidFill>
                  <a:srgbClr val="57606A"/>
                </a:solidFill>
                <a:latin typeface="Be Vietnam Pro" pitchFamily="34" charset="0"/>
                <a:ea typeface="Be Vietnam Pro" pitchFamily="34" charset="-122"/>
                <a:cs typeface="Be Vietnam Pro" pitchFamily="34" charset="-120"/>
              </a:rPr>
              <a:t> điều phối · </a:t>
            </a:r>
            <a:r>
              <a:rPr lang="en-US" sz="1500" b="1" dirty="0">
                <a:solidFill>
                  <a:srgbClr val="1F2328"/>
                </a:solidFill>
                <a:latin typeface="Be Vietnam Pro" pitchFamily="34" charset="0"/>
                <a:ea typeface="Be Vietnam Pro" pitchFamily="34" charset="-122"/>
                <a:cs typeface="Be Vietnam Pro" pitchFamily="34" charset="-120"/>
              </a:rPr>
              <a:t>MLflow</a:t>
            </a:r>
            <a:r>
              <a:rPr lang="en-US" sz="1500" dirty="0">
                <a:solidFill>
                  <a:srgbClr val="57606A"/>
                </a:solidFill>
                <a:latin typeface="Be Vietnam Pro" pitchFamily="34" charset="0"/>
                <a:ea typeface="Be Vietnam Pro" pitchFamily="34" charset="-122"/>
                <a:cs typeface="Be Vietnam Pro" pitchFamily="34" charset="-120"/>
              </a:rPr>
              <a:t> giữ model và alias · </a:t>
            </a:r>
            <a:r>
              <a:rPr lang="en-US" sz="1500" b="1" dirty="0">
                <a:solidFill>
                  <a:srgbClr val="1F2328"/>
                </a:solidFill>
                <a:latin typeface="Be Vietnam Pro" pitchFamily="34" charset="0"/>
                <a:ea typeface="Be Vietnam Pro" pitchFamily="34" charset="-122"/>
                <a:cs typeface="Be Vietnam Pro" pitchFamily="34" charset="-120"/>
              </a:rPr>
              <a:t>MinIO, PostgreSQL</a:t>
            </a:r>
            <a:r>
              <a:rPr lang="en-US" sz="1500" dirty="0">
                <a:solidFill>
                  <a:srgbClr val="57606A"/>
                </a:solidFill>
                <a:latin typeface="Be Vietnam Pro" pitchFamily="34" charset="0"/>
                <a:ea typeface="Be Vietnam Pro" pitchFamily="34" charset="-122"/>
                <a:cs typeface="Be Vietnam Pro" pitchFamily="34" charset="-120"/>
              </a:rPr>
              <a:t> lưu dữ liệu · </a:t>
            </a:r>
            <a:r>
              <a:rPr lang="en-US" sz="1500" b="1" dirty="0">
                <a:solidFill>
                  <a:srgbClr val="1F2328"/>
                </a:solidFill>
                <a:latin typeface="Be Vietnam Pro" pitchFamily="34" charset="0"/>
                <a:ea typeface="Be Vietnam Pro" pitchFamily="34" charset="-122"/>
                <a:cs typeface="Be Vietnam Pro" pitchFamily="34" charset="-120"/>
              </a:rPr>
              <a:t>ArgoCD, KServe</a:t>
            </a:r>
            <a:r>
              <a:rPr lang="en-US" sz="1500" dirty="0">
                <a:solidFill>
                  <a:srgbClr val="57606A"/>
                </a:solidFill>
                <a:latin typeface="Be Vietnam Pro" pitchFamily="34" charset="0"/>
                <a:ea typeface="Be Vietnam Pro" pitchFamily="34" charset="-122"/>
                <a:cs typeface="Be Vietnam Pro" pitchFamily="34" charset="-120"/>
              </a:rPr>
              <a:t> phục vụ model</a:t>
            </a:r>
            <a:endParaRPr lang="en-US" sz="1500" dirty="0"/>
          </a:p>
        </p:txBody>
      </p:sp>
      <p:sp>
        <p:nvSpPr>
          <p:cNvPr id="7" name="Text 4"/>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VDT</a:t>
            </a:r>
            <a:endParaRPr lang="en-US" sz="1200" dirty="0"/>
          </a:p>
        </p:txBody>
      </p:sp>
      <p:sp>
        <p:nvSpPr>
          <p:cNvPr id="8" name="Text 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609600"/>
            <a:ext cx="10883392" cy="219948"/>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2F5D8A"/>
                </a:solidFill>
                <a:latin typeface="Be Vietnam Pro" pitchFamily="34" charset="0"/>
                <a:ea typeface="Be Vietnam Pro" pitchFamily="34" charset="-122"/>
                <a:cs typeface="Be Vietnam Pro" pitchFamily="34" charset="-120"/>
              </a:rPr>
              <a:t>Kiến trúc</a:t>
            </a:r>
            <a:endParaRPr lang="en-US" sz="1121" dirty="0"/>
          </a:p>
        </p:txBody>
      </p:sp>
      <p:sp>
        <p:nvSpPr>
          <p:cNvPr id="3" name="Text 1"/>
          <p:cNvSpPr/>
          <p:nvPr>
            <p:ph type="title"/>
          </p:nvPr>
        </p:nvSpPr>
        <p:spPr>
          <a:xfrm>
            <a:off x="812800" y="854949"/>
            <a:ext cx="10883392" cy="398304"/>
          </a:xfrm>
          <a:prstGeom prst="rect">
            <a:avLst/>
          </a:prstGeom>
          <a:noFill/>
          <a:ln/>
        </p:spPr>
        <p:txBody>
          <a:bodyPr wrap="square" lIns="0" tIns="0" rIns="0" bIns="0" rtlCol="0" anchor="t">
            <a:normAutofit/>
          </a:bodyPr>
          <a:lstStyle/>
          <a:p>
            <a:pPr algn="l" indent="0" marL="0">
              <a:lnSpc>
                <a:spcPts val="2968"/>
              </a:lnSpc>
              <a:buNone/>
            </a:pPr>
            <a:r>
              <a:rPr lang="en-US" sz="2581" b="1" i="0" dirty="0">
                <a:solidFill>
                  <a:srgbClr val="1F2328"/>
                </a:solidFill>
                <a:latin typeface="Be Vietnam Pro" pitchFamily="34" charset="0"/>
                <a:ea typeface="Be Vietnam Pro" pitchFamily="34" charset="-122"/>
                <a:cs typeface="Be Vietnam Pro" pitchFamily="34" charset="-120"/>
              </a:rPr>
              <a:t>Lịch vận hành trong tuần</a:t>
            </a:r>
            <a:endParaRPr lang="en-US" sz="2581" dirty="0"/>
          </a:p>
        </p:txBody>
      </p:sp>
      <p:pic>
        <p:nvPicPr>
          <p:cNvPr id="4" name="Image 0" descr="Lịch: Feature Store 06:00 hằng ngày, Dự đoán 07:00 hằng ngày, Huấn luyện và Đánh giá 07:00 Chủ Nhật, Deployer mỗi 60 giây">    </p:cNvPr>
          <p:cNvPicPr>
            <a:picLocks noChangeAspect="1"/>
          </p:cNvPicPr>
          <p:nvPr/>
        </p:nvPicPr>
        <p:blipFill>
          <a:blip r:embed="rId1"/>
          <a:srcRect l="-4579" r="-4579" t="0" b="0"/>
          <a:stretch/>
        </p:blipFill>
        <p:spPr>
          <a:xfrm>
            <a:off x="812800" y="1481854"/>
            <a:ext cx="10566400" cy="3616246"/>
          </a:xfrm>
          <a:prstGeom prst="rect">
            <a:avLst/>
          </a:prstGeom>
        </p:spPr>
      </p:pic>
      <p:sp>
        <p:nvSpPr>
          <p:cNvPr id="5" name="Text 2"/>
          <p:cNvSpPr/>
          <p:nvPr/>
        </p:nvSpPr>
        <p:spPr>
          <a:xfrm>
            <a:off x="812800" y="5352098"/>
            <a:ext cx="11379200" cy="515303"/>
          </a:xfrm>
          <a:prstGeom prst="rect">
            <a:avLst/>
          </a:prstGeom>
          <a:noFill/>
          <a:ln/>
        </p:spPr>
        <p:txBody>
          <a:bodyPr wrap="square" lIns="0" tIns="0" rIns="0" bIns="0" rtlCol="0" anchor="t">
            <a:normAutofit/>
          </a:bodyPr>
          <a:lstStyle/>
          <a:p>
            <a:pPr algn="l" indent="0" marL="0">
              <a:lnSpc>
                <a:spcPts val="2074"/>
              </a:lnSpc>
              <a:buNone/>
            </a:pPr>
            <a:r>
              <a:rPr lang="en-US" sz="1481" dirty="0">
                <a:solidFill>
                  <a:srgbClr val="57606A"/>
                </a:solidFill>
                <a:latin typeface="Be Vietnam Pro" pitchFamily="34" charset="0"/>
                <a:ea typeface="Be Vietnam Pro" pitchFamily="34" charset="-122"/>
                <a:cs typeface="Be Vietnam Pro" pitchFamily="34" charset="-120"/>
              </a:rPr>
              <a:t>Feature Store xong lúc 06:00 thì Dự đoán mới chạy lúc 07:00. Huấn luyện còn được gọi thêm khi drift ở mức </a:t>
            </a:r>
            <a:r>
              <a:rPr lang="en-US" sz="1481" b="1" dirty="0">
                <a:solidFill>
                  <a:srgbClr val="1F2328"/>
                </a:solidFill>
                <a:latin typeface="Be Vietnam Pro" pitchFamily="34" charset="0"/>
                <a:ea typeface="Be Vietnam Pro" pitchFamily="34" charset="-122"/>
                <a:cs typeface="Be Vietnam Pro" pitchFamily="34" charset="-120"/>
              </a:rPr>
              <a:t>critical</a:t>
            </a:r>
            <a:r>
              <a:rPr lang="en-US" sz="1481" dirty="0">
                <a:solidFill>
                  <a:srgbClr val="57606A"/>
                </a:solidFill>
                <a:latin typeface="Be Vietnam Pro" pitchFamily="34" charset="0"/>
                <a:ea typeface="Be Vietnam Pro" pitchFamily="34" charset="-122"/>
                <a:cs typeface="Be Vietnam Pro" pitchFamily="34" charset="-120"/>
              </a:rPr>
              <a:t>.</a:t>
            </a:r>
            <a:endParaRPr lang="en-US" sz="1481" dirty="0"/>
          </a:p>
        </p:txBody>
      </p:sp>
      <p:sp>
        <p:nvSpPr>
          <p:cNvPr id="6" name="Text 3"/>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VDT</a:t>
            </a:r>
            <a:endParaRPr lang="en-US" sz="1200" dirty="0"/>
          </a:p>
        </p:txBody>
      </p:sp>
      <p:sp>
        <p:nvSpPr>
          <p:cNvPr id="7" name="Text 4"/>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VDT</a:t>
            </a:r>
            <a:endParaRPr lang="en-US" sz="1200" dirty="0"/>
          </a:p>
        </p:txBody>
      </p:sp>
      <p:sp>
        <p:nvSpPr>
          <p:cNvPr id="3" name="Text 1"/>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7</a:t>
            </a:r>
            <a:endParaRPr lang="en-US" sz="1200" dirty="0"/>
          </a:p>
        </p:txBody>
      </p:sp>
      <p:sp>
        <p:nvSpPr>
          <p:cNvPr id="4" name="Text 2"/>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8A"/>
                </a:solidFill>
                <a:latin typeface="Be Vietnam Pro" pitchFamily="34" charset="0"/>
                <a:ea typeface="Be Vietnam Pro" pitchFamily="34" charset="-122"/>
                <a:cs typeface="Be Vietnam Pro" pitchFamily="34" charset="-120"/>
              </a:rPr>
              <a:t>Luồng 1/5</a:t>
            </a:r>
            <a:endParaRPr lang="en-US" sz="1200" dirty="0"/>
          </a:p>
        </p:txBody>
      </p:sp>
      <p:sp>
        <p:nvSpPr>
          <p:cNvPr id="5" name="Text 3"/>
          <p:cNvSpPr/>
          <p:nvPr>
            <p:ph type="title"/>
          </p:nvPr>
        </p:nvSpPr>
        <p:spPr>
          <a:xfrm>
            <a:off x="812800" y="8737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28"/>
                </a:solidFill>
                <a:latin typeface="Be Vietnam Pro" pitchFamily="34" charset="0"/>
                <a:ea typeface="Be Vietnam Pro" pitchFamily="34" charset="-122"/>
                <a:cs typeface="Be Vietnam Pro" pitchFamily="34" charset="-120"/>
              </a:rPr>
              <a:t>Gold → Feature Store</a:t>
            </a:r>
            <a:endParaRPr lang="en-US" sz="2800" dirty="0"/>
          </a:p>
        </p:txBody>
      </p:sp>
      <p:pic>
        <p:nvPicPr>
          <p:cNvPr id="6" name="Image 0" descr="DAG feature_store_daily: check_source, compute_features, write_partitions, quality_gate, publish_marker">    </p:cNvPr>
          <p:cNvPicPr>
            <a:picLocks noChangeAspect="1"/>
          </p:cNvPicPr>
          <p:nvPr/>
        </p:nvPicPr>
        <p:blipFill>
          <a:blip r:embed="rId1"/>
          <a:stretch>
            <a:fillRect/>
          </a:stretch>
        </p:blipFill>
        <p:spPr>
          <a:xfrm>
            <a:off x="859008" y="1289050"/>
            <a:ext cx="6189242" cy="4942840"/>
          </a:xfrm>
          <a:prstGeom prst="rect">
            <a:avLst/>
          </a:prstGeom>
        </p:spPr>
      </p:pic>
      <p:sp>
        <p:nvSpPr>
          <p:cNvPr id="7" name="Shape 4"/>
          <p:cNvSpPr/>
          <p:nvPr/>
        </p:nvSpPr>
        <p:spPr>
          <a:xfrm>
            <a:off x="663893" y="1285875"/>
            <a:ext cx="6579474" cy="4949190"/>
          </a:xfrm>
          <a:prstGeom prst="roundRect">
            <a:avLst>
              <a:gd name="adj" fmla="val 1475"/>
            </a:avLst>
          </a:prstGeom>
          <a:noFill/>
          <a:ln w="6350">
            <a:solidFill>
              <a:srgbClr val="DDDFDB"/>
            </a:solidFill>
            <a:prstDash val="solid"/>
          </a:ln>
        </p:spPr>
      </p:sp>
      <p:sp>
        <p:nvSpPr>
          <p:cNvPr id="8" name="Text 5"/>
          <p:cNvSpPr/>
          <p:nvPr/>
        </p:nvSpPr>
        <p:spPr>
          <a:xfrm>
            <a:off x="7366000" y="2493885"/>
            <a:ext cx="4970780"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F2328"/>
                </a:solidFill>
                <a:latin typeface="Be Vietnam Pro" pitchFamily="34" charset="0"/>
                <a:ea typeface="Be Vietnam Pro" pitchFamily="34" charset="-122"/>
                <a:cs typeface="Be Vietnam Pro" pitchFamily="34" charset="-120"/>
              </a:rPr>
              <a:t>Mỗi ngày ghi đúng </a:t>
            </a:r>
            <a:r>
              <a:rPr lang="en-US" sz="1600" b="1" dirty="0">
                <a:solidFill>
                  <a:srgbClr val="1F2328"/>
                </a:solidFill>
                <a:latin typeface="Be Vietnam Pro" pitchFamily="34" charset="0"/>
                <a:ea typeface="Be Vietnam Pro" pitchFamily="34" charset="-122"/>
                <a:cs typeface="Be Vietnam Pro" pitchFamily="34" charset="-120"/>
              </a:rPr>
              <a:t>1 partition</a:t>
            </a:r>
            <a:r>
              <a:rPr lang="en-US" sz="1600" dirty="0">
                <a:solidFill>
                  <a:srgbClr val="1F2328"/>
                </a:solidFill>
                <a:latin typeface="Be Vietnam Pro" pitchFamily="34" charset="0"/>
                <a:ea typeface="Be Vietnam Pro" pitchFamily="34" charset="-122"/>
                <a:cs typeface="Be Vietnam Pro" pitchFamily="34" charset="-120"/>
              </a:rPr>
              <a:t> report_date = T</a:t>
            </a:r>
            <a:endParaRPr lang="en-US" sz="1600" dirty="0"/>
          </a:p>
        </p:txBody>
      </p:sp>
      <p:sp>
        <p:nvSpPr>
          <p:cNvPr id="9" name="Text 6"/>
          <p:cNvSpPr/>
          <p:nvPr/>
        </p:nvSpPr>
        <p:spPr>
          <a:xfrm>
            <a:off x="7366000" y="2976485"/>
            <a:ext cx="4970780"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F2328"/>
                </a:solidFill>
                <a:latin typeface="Be Vietnam Pro" pitchFamily="34" charset="0"/>
                <a:ea typeface="Be Vietnam Pro" pitchFamily="34" charset="-122"/>
                <a:cs typeface="Be Vietnam Pro" pitchFamily="34" charset="-120"/>
              </a:rPr>
              <a:t>Chạy lại ngày T thì chỉ thay partition T (</a:t>
            </a:r>
            <a:r>
              <a:rPr lang="en-US" sz="1600" b="1" dirty="0">
                <a:solidFill>
                  <a:srgbClr val="1F2328"/>
                </a:solidFill>
                <a:latin typeface="Be Vietnam Pro" pitchFamily="34" charset="0"/>
                <a:ea typeface="Be Vietnam Pro" pitchFamily="34" charset="-122"/>
                <a:cs typeface="Be Vietnam Pro" pitchFamily="34" charset="-120"/>
              </a:rPr>
              <a:t>idempotent</a:t>
            </a:r>
            <a:r>
              <a:rPr lang="en-US" sz="1600" dirty="0">
                <a:solidFill>
                  <a:srgbClr val="1F2328"/>
                </a:solidFill>
                <a:latin typeface="Be Vietnam Pro" pitchFamily="34" charset="0"/>
                <a:ea typeface="Be Vietnam Pro" pitchFamily="34" charset="-122"/>
                <a:cs typeface="Be Vietnam Pro" pitchFamily="34" charset="-120"/>
              </a:rPr>
              <a:t>)</a:t>
            </a:r>
            <a:endParaRPr lang="en-US" sz="1600" dirty="0"/>
          </a:p>
        </p:txBody>
      </p:sp>
      <p:sp>
        <p:nvSpPr>
          <p:cNvPr id="10" name="Text 7"/>
          <p:cNvSpPr/>
          <p:nvPr/>
        </p:nvSpPr>
        <p:spPr>
          <a:xfrm>
            <a:off x="7366000" y="3725785"/>
            <a:ext cx="4970780"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F2328"/>
                </a:solidFill>
                <a:latin typeface="Be Vietnam Pro" pitchFamily="34" charset="0"/>
                <a:ea typeface="Be Vietnam Pro" pitchFamily="34" charset="-122"/>
                <a:cs typeface="Be Vietnam Pro" pitchFamily="34" charset="-120"/>
              </a:rPr>
              <a:t>Không qua </a:t>
            </a:r>
            <a:r>
              <a:rPr lang="en-US" sz="1600" b="1" dirty="0">
                <a:solidFill>
                  <a:srgbClr val="1F2328"/>
                </a:solidFill>
                <a:latin typeface="Be Vietnam Pro" pitchFamily="34" charset="0"/>
                <a:ea typeface="Be Vietnam Pro" pitchFamily="34" charset="-122"/>
                <a:cs typeface="Be Vietnam Pro" pitchFamily="34" charset="-120"/>
              </a:rPr>
              <a:t>quality_gate</a:t>
            </a:r>
            <a:r>
              <a:rPr lang="en-US" sz="1600" dirty="0">
                <a:solidFill>
                  <a:srgbClr val="1F2328"/>
                </a:solidFill>
                <a:latin typeface="Be Vietnam Pro" pitchFamily="34" charset="0"/>
                <a:ea typeface="Be Vietnam Pro" pitchFamily="34" charset="-122"/>
                <a:cs typeface="Be Vietnam Pro" pitchFamily="34" charset="-120"/>
              </a:rPr>
              <a:t> thì không đánh dấu hoàn tất, DAG dự đoán không chạy</a:t>
            </a:r>
            <a:endParaRPr lang="en-US" sz="1600" dirty="0"/>
          </a:p>
        </p:txBody>
      </p:sp>
      <p:sp>
        <p:nvSpPr>
          <p:cNvPr id="11" name="Text 8"/>
          <p:cNvSpPr/>
          <p:nvPr/>
        </p:nvSpPr>
        <p:spPr>
          <a:xfrm>
            <a:off x="7366000" y="4475085"/>
            <a:ext cx="4970780"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F2328"/>
                </a:solidFill>
                <a:latin typeface="Be Vietnam Pro" pitchFamily="34" charset="0"/>
                <a:ea typeface="Be Vietnam Pro" pitchFamily="34" charset="-122"/>
                <a:cs typeface="Be Vietnam Pro" pitchFamily="34" charset="-120"/>
              </a:rPr>
              <a:t>Giữ 12 tháng, dọn file mỗi tuần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609600"/>
            <a:ext cx="10883392" cy="232807"/>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2F5D8A"/>
                </a:solidFill>
                <a:latin typeface="Be Vietnam Pro" pitchFamily="34" charset="0"/>
                <a:ea typeface="Be Vietnam Pro" pitchFamily="34" charset="-122"/>
                <a:cs typeface="Be Vietnam Pro" pitchFamily="34" charset="-120"/>
              </a:rPr>
              <a:t>Luồng 2/5 · Huấn luyện</a:t>
            </a:r>
            <a:endParaRPr lang="en-US" sz="1196" dirty="0"/>
          </a:p>
        </p:txBody>
      </p:sp>
      <p:sp>
        <p:nvSpPr>
          <p:cNvPr id="3" name="Text 1"/>
          <p:cNvSpPr/>
          <p:nvPr>
            <p:ph type="title"/>
          </p:nvPr>
        </p:nvSpPr>
        <p:spPr>
          <a:xfrm>
            <a:off x="812800" y="867807"/>
            <a:ext cx="10883392" cy="422989"/>
          </a:xfrm>
          <a:prstGeom prst="rect">
            <a:avLst/>
          </a:prstGeom>
          <a:noFill/>
          <a:ln/>
        </p:spPr>
        <p:txBody>
          <a:bodyPr wrap="square" lIns="0" tIns="0" rIns="0" bIns="0" rtlCol="0" anchor="t">
            <a:normAutofit/>
          </a:bodyPr>
          <a:lstStyle/>
          <a:p>
            <a:pPr algn="l" indent="0" marL="0">
              <a:lnSpc>
                <a:spcPts val="3170"/>
              </a:lnSpc>
              <a:buNone/>
            </a:pPr>
            <a:r>
              <a:rPr lang="en-US" sz="2756" b="1" i="0" dirty="0">
                <a:solidFill>
                  <a:srgbClr val="1F2328"/>
                </a:solidFill>
                <a:latin typeface="Be Vietnam Pro" pitchFamily="34" charset="0"/>
                <a:ea typeface="Be Vietnam Pro" pitchFamily="34" charset="-122"/>
                <a:cs typeface="Be Vietnam Pro" pitchFamily="34" charset="-120"/>
              </a:rPr>
              <a:t>Chia dữ liệu theo thời gian, có embargo</a:t>
            </a:r>
            <a:endParaRPr lang="en-US" sz="2756" dirty="0"/>
          </a:p>
        </p:txBody>
      </p:sp>
      <p:pic>
        <p:nvPicPr>
          <p:cNvPr id="4" name="Image 0" descr="Train 01/02–30/06, embargo, Validation 31/07–30/09, embargo, Test 31/10–31/12 năm 2025">    </p:cNvPr>
          <p:cNvPicPr>
            <a:picLocks noChangeAspect="1"/>
          </p:cNvPicPr>
          <p:nvPr/>
        </p:nvPicPr>
        <p:blipFill>
          <a:blip r:embed="rId1"/>
          <a:srcRect l="-7142" r="-7142" t="0" b="0"/>
          <a:stretch/>
        </p:blipFill>
        <p:spPr>
          <a:xfrm>
            <a:off x="812800" y="1519396"/>
            <a:ext cx="10566400" cy="3093561"/>
          </a:xfrm>
          <a:prstGeom prst="rect">
            <a:avLst/>
          </a:prstGeom>
        </p:spPr>
      </p:pic>
      <p:sp>
        <p:nvSpPr>
          <p:cNvPr id="5" name="Shape 2"/>
          <p:cNvSpPr/>
          <p:nvPr/>
        </p:nvSpPr>
        <p:spPr>
          <a:xfrm>
            <a:off x="812800" y="4879659"/>
            <a:ext cx="3386614" cy="0"/>
          </a:xfrm>
          <a:prstGeom prst="line">
            <a:avLst/>
          </a:prstGeom>
          <a:noFill/>
          <a:ln w="25400">
            <a:solidFill>
              <a:srgbClr val="2F5D8A"/>
            </a:solidFill>
            <a:prstDash val="solid"/>
          </a:ln>
        </p:spPr>
      </p:sp>
      <p:sp>
        <p:nvSpPr>
          <p:cNvPr id="6" name="Text 3"/>
          <p:cNvSpPr/>
          <p:nvPr/>
        </p:nvSpPr>
        <p:spPr>
          <a:xfrm>
            <a:off x="812800" y="5044759"/>
            <a:ext cx="3488212" cy="290592"/>
          </a:xfrm>
          <a:prstGeom prst="rect">
            <a:avLst/>
          </a:prstGeom>
          <a:noFill/>
          <a:ln/>
        </p:spPr>
        <p:txBody>
          <a:bodyPr wrap="square" lIns="0" tIns="0" rIns="0" bIns="0" rtlCol="0" anchor="t">
            <a:normAutofit/>
          </a:bodyPr>
          <a:lstStyle/>
          <a:p>
            <a:pPr algn="l" indent="0" marL="0">
              <a:lnSpc>
                <a:spcPts val="2119"/>
              </a:lnSpc>
              <a:buNone/>
            </a:pPr>
            <a:r>
              <a:rPr lang="en-US" sz="1766" b="1" dirty="0">
                <a:solidFill>
                  <a:srgbClr val="1F2328"/>
                </a:solidFill>
                <a:latin typeface="Be Vietnam Pro" pitchFamily="34" charset="0"/>
                <a:ea typeface="Be Vietnam Pro" pitchFamily="34" charset="-122"/>
                <a:cs typeface="Be Vietnam Pro" pitchFamily="34" charset="-120"/>
              </a:rPr>
              <a:t>Train</a:t>
            </a:r>
            <a:endParaRPr lang="en-US" sz="1766" dirty="0"/>
          </a:p>
        </p:txBody>
      </p:sp>
      <p:sp>
        <p:nvSpPr>
          <p:cNvPr id="7" name="Text 4"/>
          <p:cNvSpPr/>
          <p:nvPr/>
        </p:nvSpPr>
        <p:spPr>
          <a:xfrm>
            <a:off x="812800" y="5360752"/>
            <a:ext cx="3488212" cy="506651"/>
          </a:xfrm>
          <a:prstGeom prst="rect">
            <a:avLst/>
          </a:prstGeom>
          <a:noFill/>
          <a:ln/>
        </p:spPr>
        <p:txBody>
          <a:bodyPr wrap="square" lIns="0" tIns="0" rIns="0" bIns="0" rtlCol="0" anchor="t">
            <a:normAutofit/>
          </a:bodyPr>
          <a:lstStyle/>
          <a:p>
            <a:pPr algn="l" indent="0" marL="0">
              <a:lnSpc>
                <a:spcPts val="1911"/>
              </a:lnSpc>
              <a:buNone/>
            </a:pPr>
            <a:r>
              <a:rPr lang="en-US" sz="1365" dirty="0">
                <a:solidFill>
                  <a:srgbClr val="57606A"/>
                </a:solidFill>
                <a:latin typeface="Be Vietnam Pro" pitchFamily="34" charset="0"/>
                <a:ea typeface="Be Vietnam Pro" pitchFamily="34" charset="-122"/>
                <a:cs typeface="Be Vietnam Pro" pitchFamily="34" charset="-120"/>
              </a:rPr>
              <a:t>Học tham số, tính trọng số lớp cho từng segment</a:t>
            </a:r>
            <a:endParaRPr lang="en-US" sz="1365" dirty="0"/>
          </a:p>
        </p:txBody>
      </p:sp>
      <p:sp>
        <p:nvSpPr>
          <p:cNvPr id="8" name="Shape 5"/>
          <p:cNvSpPr/>
          <p:nvPr/>
        </p:nvSpPr>
        <p:spPr>
          <a:xfrm>
            <a:off x="4402614" y="4879659"/>
            <a:ext cx="3386693" cy="0"/>
          </a:xfrm>
          <a:prstGeom prst="line">
            <a:avLst/>
          </a:prstGeom>
          <a:noFill/>
          <a:ln w="25400">
            <a:solidFill>
              <a:srgbClr val="2F5D8A"/>
            </a:solidFill>
            <a:prstDash val="solid"/>
          </a:ln>
        </p:spPr>
      </p:sp>
      <p:sp>
        <p:nvSpPr>
          <p:cNvPr id="9" name="Text 6"/>
          <p:cNvSpPr/>
          <p:nvPr/>
        </p:nvSpPr>
        <p:spPr>
          <a:xfrm>
            <a:off x="4402614" y="5044759"/>
            <a:ext cx="3488294" cy="290592"/>
          </a:xfrm>
          <a:prstGeom prst="rect">
            <a:avLst/>
          </a:prstGeom>
          <a:noFill/>
          <a:ln/>
        </p:spPr>
        <p:txBody>
          <a:bodyPr wrap="square" lIns="0" tIns="0" rIns="0" bIns="0" rtlCol="0" anchor="t">
            <a:normAutofit/>
          </a:bodyPr>
          <a:lstStyle/>
          <a:p>
            <a:pPr algn="l" indent="0" marL="0">
              <a:lnSpc>
                <a:spcPts val="2119"/>
              </a:lnSpc>
              <a:buNone/>
            </a:pPr>
            <a:r>
              <a:rPr lang="en-US" sz="1766" b="1" dirty="0">
                <a:solidFill>
                  <a:srgbClr val="1F2328"/>
                </a:solidFill>
                <a:latin typeface="Be Vietnam Pro" pitchFamily="34" charset="0"/>
                <a:ea typeface="Be Vietnam Pro" pitchFamily="34" charset="-122"/>
                <a:cs typeface="Be Vietnam Pro" pitchFamily="34" charset="-120"/>
              </a:rPr>
              <a:t>Validation</a:t>
            </a:r>
            <a:endParaRPr lang="en-US" sz="1766" dirty="0"/>
          </a:p>
        </p:txBody>
      </p:sp>
      <p:sp>
        <p:nvSpPr>
          <p:cNvPr id="10" name="Text 7"/>
          <p:cNvSpPr/>
          <p:nvPr/>
        </p:nvSpPr>
        <p:spPr>
          <a:xfrm>
            <a:off x="4402614" y="5360752"/>
            <a:ext cx="3488294" cy="506651"/>
          </a:xfrm>
          <a:prstGeom prst="rect">
            <a:avLst/>
          </a:prstGeom>
          <a:noFill/>
          <a:ln/>
        </p:spPr>
        <p:txBody>
          <a:bodyPr wrap="square" lIns="0" tIns="0" rIns="0" bIns="0" rtlCol="0" anchor="t">
            <a:normAutofit/>
          </a:bodyPr>
          <a:lstStyle/>
          <a:p>
            <a:pPr algn="l" indent="0" marL="0">
              <a:lnSpc>
                <a:spcPts val="1911"/>
              </a:lnSpc>
              <a:buNone/>
            </a:pPr>
            <a:r>
              <a:rPr lang="en-US" sz="1365" dirty="0">
                <a:solidFill>
                  <a:srgbClr val="57606A"/>
                </a:solidFill>
                <a:latin typeface="Be Vietnam Pro" pitchFamily="34" charset="0"/>
                <a:ea typeface="Be Vietnam Pro" pitchFamily="34" charset="-122"/>
                <a:cs typeface="Be Vietnam Pro" pitchFamily="34" charset="-120"/>
              </a:rPr>
              <a:t>Chọn LR hay LightGBM theo ROC-AUC, ngưỡng max-F1</a:t>
            </a:r>
            <a:endParaRPr lang="en-US" sz="1365" dirty="0"/>
          </a:p>
        </p:txBody>
      </p:sp>
      <p:sp>
        <p:nvSpPr>
          <p:cNvPr id="11" name="Shape 8"/>
          <p:cNvSpPr/>
          <p:nvPr/>
        </p:nvSpPr>
        <p:spPr>
          <a:xfrm>
            <a:off x="7992507" y="4879659"/>
            <a:ext cx="3386693" cy="0"/>
          </a:xfrm>
          <a:prstGeom prst="line">
            <a:avLst/>
          </a:prstGeom>
          <a:noFill/>
          <a:ln w="25400">
            <a:solidFill>
              <a:srgbClr val="2F5D8A"/>
            </a:solidFill>
            <a:prstDash val="solid"/>
          </a:ln>
        </p:spPr>
      </p:sp>
      <p:sp>
        <p:nvSpPr>
          <p:cNvPr id="12" name="Text 9"/>
          <p:cNvSpPr/>
          <p:nvPr/>
        </p:nvSpPr>
        <p:spPr>
          <a:xfrm>
            <a:off x="7992507" y="5044759"/>
            <a:ext cx="3488294" cy="290592"/>
          </a:xfrm>
          <a:prstGeom prst="rect">
            <a:avLst/>
          </a:prstGeom>
          <a:noFill/>
          <a:ln/>
        </p:spPr>
        <p:txBody>
          <a:bodyPr wrap="square" lIns="0" tIns="0" rIns="0" bIns="0" rtlCol="0" anchor="t">
            <a:normAutofit/>
          </a:bodyPr>
          <a:lstStyle/>
          <a:p>
            <a:pPr algn="l" indent="0" marL="0">
              <a:lnSpc>
                <a:spcPts val="2119"/>
              </a:lnSpc>
              <a:buNone/>
            </a:pPr>
            <a:r>
              <a:rPr lang="en-US" sz="1766" b="1" dirty="0">
                <a:solidFill>
                  <a:srgbClr val="1F2328"/>
                </a:solidFill>
                <a:latin typeface="Be Vietnam Pro" pitchFamily="34" charset="0"/>
                <a:ea typeface="Be Vietnam Pro" pitchFamily="34" charset="-122"/>
                <a:cs typeface="Be Vietnam Pro" pitchFamily="34" charset="-120"/>
              </a:rPr>
              <a:t>Test</a:t>
            </a:r>
            <a:endParaRPr lang="en-US" sz="1766" dirty="0"/>
          </a:p>
        </p:txBody>
      </p:sp>
      <p:sp>
        <p:nvSpPr>
          <p:cNvPr id="13" name="Text 10"/>
          <p:cNvSpPr/>
          <p:nvPr/>
        </p:nvSpPr>
        <p:spPr>
          <a:xfrm>
            <a:off x="7992507" y="5360752"/>
            <a:ext cx="3488294" cy="506651"/>
          </a:xfrm>
          <a:prstGeom prst="rect">
            <a:avLst/>
          </a:prstGeom>
          <a:noFill/>
          <a:ln/>
        </p:spPr>
        <p:txBody>
          <a:bodyPr wrap="square" lIns="0" tIns="0" rIns="0" bIns="0" rtlCol="0" anchor="t">
            <a:normAutofit/>
          </a:bodyPr>
          <a:lstStyle/>
          <a:p>
            <a:pPr algn="l" indent="0" marL="0">
              <a:lnSpc>
                <a:spcPts val="1911"/>
              </a:lnSpc>
              <a:buNone/>
            </a:pPr>
            <a:r>
              <a:rPr lang="en-US" sz="1365" dirty="0">
                <a:solidFill>
                  <a:srgbClr val="57606A"/>
                </a:solidFill>
                <a:latin typeface="Be Vietnam Pro" pitchFamily="34" charset="0"/>
                <a:ea typeface="Be Vietnam Pro" pitchFamily="34" charset="-122"/>
                <a:cs typeface="Be Vietnam Pro" pitchFamily="34" charset="-120"/>
              </a:rPr>
              <a:t>Chấm đúng một lần, làm đầu vào cổng champion</a:t>
            </a:r>
            <a:endParaRPr lang="en-US" sz="1365" dirty="0"/>
          </a:p>
        </p:txBody>
      </p:sp>
      <p:sp>
        <p:nvSpPr>
          <p:cNvPr id="14" name="Text 11"/>
          <p:cNvSpPr/>
          <p:nvPr/>
        </p:nvSpPr>
        <p:spPr>
          <a:xfrm>
            <a:off x="812800" y="6238242"/>
            <a:ext cx="91440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Cửa sổ trượt, tính lùi từ ngày chấm as_of (ví dụ as_of = 30/01/2026). Embargo 30 ngày chặn rò nhãn</a:t>
            </a:r>
            <a:endParaRPr lang="en-US" sz="1200" dirty="0"/>
          </a:p>
        </p:txBody>
      </p:sp>
      <p:sp>
        <p:nvSpPr>
          <p:cNvPr id="15" name="Text 1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9</a:t>
            </a:r>
            <a:endParaRPr lang="en-US" sz="1200" dirty="0"/>
          </a:p>
        </p:txBody>
      </p:sp>
      <p:sp>
        <p:nvSpPr>
          <p:cNvPr id="3" name="Text 1"/>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8A"/>
                </a:solidFill>
                <a:latin typeface="Be Vietnam Pro" pitchFamily="34" charset="0"/>
                <a:ea typeface="Be Vietnam Pro" pitchFamily="34" charset="-122"/>
                <a:cs typeface="Be Vietnam Pro" pitchFamily="34" charset="-120"/>
              </a:rPr>
              <a:t>Luồng 2/5 · Huấn luyện</a:t>
            </a:r>
            <a:endParaRPr lang="en-US" sz="1200" dirty="0"/>
          </a:p>
        </p:txBody>
      </p:sp>
      <p:sp>
        <p:nvSpPr>
          <p:cNvPr id="4" name="Text 2"/>
          <p:cNvSpPr/>
          <p:nvPr>
            <p:ph type="title"/>
          </p:nvPr>
        </p:nvSpPr>
        <p:spPr>
          <a:xfrm>
            <a:off x="812800" y="8737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28"/>
                </a:solidFill>
                <a:latin typeface="Be Vietnam Pro" pitchFamily="34" charset="0"/>
                <a:ea typeface="Be Vietnam Pro" pitchFamily="34" charset="-122"/>
                <a:cs typeface="Be Vietnam Pro" pitchFamily="34" charset="-120"/>
              </a:rPr>
              <a:t>Cổng champion / challenger</a:t>
            </a:r>
            <a:endParaRPr lang="en-US" sz="2800" dirty="0"/>
          </a:p>
        </p:txBody>
      </p:sp>
      <p:pic>
        <p:nvPicPr>
          <p:cNvPr id="5" name="Image 0" descr="DAG loan_propensity_train: pod train, cổng champion, report_gate, người vận hành duyệt">    </p:cNvPr>
          <p:cNvPicPr>
            <a:picLocks noChangeAspect="1"/>
          </p:cNvPicPr>
          <p:nvPr/>
        </p:nvPicPr>
        <p:blipFill>
          <a:blip r:embed="rId1"/>
          <a:stretch>
            <a:fillRect/>
          </a:stretch>
        </p:blipFill>
        <p:spPr>
          <a:xfrm>
            <a:off x="994191" y="1289050"/>
            <a:ext cx="4776510" cy="5471795"/>
          </a:xfrm>
          <a:prstGeom prst="rect">
            <a:avLst/>
          </a:prstGeom>
        </p:spPr>
      </p:pic>
      <p:sp>
        <p:nvSpPr>
          <p:cNvPr id="6" name="Shape 3"/>
          <p:cNvSpPr/>
          <p:nvPr/>
        </p:nvSpPr>
        <p:spPr>
          <a:xfrm>
            <a:off x="272733" y="1285875"/>
            <a:ext cx="6219428" cy="5478145"/>
          </a:xfrm>
          <a:prstGeom prst="roundRect">
            <a:avLst>
              <a:gd name="adj" fmla="val 1333"/>
            </a:avLst>
          </a:prstGeom>
          <a:noFill/>
          <a:ln w="6350">
            <a:solidFill>
              <a:srgbClr val="DDDFDB"/>
            </a:solidFill>
            <a:prstDash val="solid"/>
          </a:ln>
        </p:spPr>
      </p:sp>
      <p:sp>
        <p:nvSpPr>
          <p:cNvPr id="7" name="Text 4"/>
          <p:cNvSpPr/>
          <p:nvPr/>
        </p:nvSpPr>
        <p:spPr>
          <a:xfrm>
            <a:off x="7238603" y="2222345"/>
            <a:ext cx="635736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7606A"/>
                </a:solidFill>
                <a:latin typeface="Be Vietnam Pro" pitchFamily="34" charset="0"/>
                <a:ea typeface="Be Vietnam Pro" pitchFamily="34" charset="-122"/>
                <a:cs typeface="Be Vietnam Pro" pitchFamily="34" charset="-120"/>
              </a:rPr>
              <a:t>Challenger đạt khi, với mọi segment:</a:t>
            </a:r>
            <a:endParaRPr lang="en-US" sz="1400" dirty="0"/>
          </a:p>
        </p:txBody>
      </p:sp>
      <p:sp>
        <p:nvSpPr>
          <p:cNvPr id="8" name="Shape 5"/>
          <p:cNvSpPr/>
          <p:nvPr/>
        </p:nvSpPr>
        <p:spPr>
          <a:xfrm>
            <a:off x="7241778" y="2676370"/>
            <a:ext cx="4565650" cy="1537494"/>
          </a:xfrm>
          <a:prstGeom prst="roundRect">
            <a:avLst>
              <a:gd name="adj" fmla="val 4750"/>
            </a:avLst>
          </a:prstGeom>
          <a:noFill/>
          <a:ln w="6350">
            <a:solidFill>
              <a:srgbClr val="DDDFDB"/>
            </a:solidFill>
            <a:prstDash val="solid"/>
          </a:ln>
        </p:spPr>
      </p:sp>
      <p:sp>
        <p:nvSpPr>
          <p:cNvPr id="9" name="Text 6"/>
          <p:cNvSpPr/>
          <p:nvPr/>
        </p:nvSpPr>
        <p:spPr>
          <a:xfrm>
            <a:off x="7497683" y="2881474"/>
            <a:ext cx="4175455" cy="272971"/>
          </a:xfrm>
          <a:prstGeom prst="rect">
            <a:avLst/>
          </a:prstGeom>
          <a:noFill/>
          <a:ln/>
        </p:spPr>
        <p:txBody>
          <a:bodyPr wrap="square" lIns="0" tIns="0" rIns="0" bIns="0" rtlCol="0" anchor="t">
            <a:normAutofit/>
          </a:bodyPr>
          <a:lstStyle/>
          <a:p>
            <a:pPr algn="l" indent="0" marL="0">
              <a:lnSpc>
                <a:spcPts val="1969"/>
              </a:lnSpc>
              <a:buNone/>
            </a:pPr>
            <a:r>
              <a:rPr lang="en-US" sz="1406" dirty="0">
                <a:solidFill>
                  <a:srgbClr val="1F2328"/>
                </a:solidFill>
                <a:latin typeface="Be Vietnam Pro" pitchFamily="34" charset="0"/>
                <a:ea typeface="Be Vietnam Pro" pitchFamily="34" charset="-122"/>
                <a:cs typeface="Be Vietnam Pro" pitchFamily="34" charset="-120"/>
              </a:rPr>
              <a:t>AUC ≥ max(AUC prod − 0,03 ; 0,75)</a:t>
            </a:r>
            <a:endParaRPr lang="en-US" sz="1406" dirty="0"/>
          </a:p>
        </p:txBody>
      </p:sp>
      <p:sp>
        <p:nvSpPr>
          <p:cNvPr id="10" name="Text 7"/>
          <p:cNvSpPr/>
          <p:nvPr/>
        </p:nvSpPr>
        <p:spPr>
          <a:xfrm>
            <a:off x="7497683" y="3230643"/>
            <a:ext cx="4175455" cy="272891"/>
          </a:xfrm>
          <a:prstGeom prst="rect">
            <a:avLst/>
          </a:prstGeom>
          <a:noFill/>
          <a:ln/>
        </p:spPr>
        <p:txBody>
          <a:bodyPr wrap="square" lIns="0" tIns="0" rIns="0" bIns="0" rtlCol="0" anchor="t">
            <a:normAutofit/>
          </a:bodyPr>
          <a:lstStyle/>
          <a:p>
            <a:pPr algn="l" indent="0" marL="0">
              <a:lnSpc>
                <a:spcPts val="1969"/>
              </a:lnSpc>
              <a:buNone/>
            </a:pPr>
            <a:r>
              <a:rPr lang="en-US" sz="1406" dirty="0">
                <a:solidFill>
                  <a:srgbClr val="1F2328"/>
                </a:solidFill>
                <a:latin typeface="Be Vietnam Pro" pitchFamily="34" charset="0"/>
                <a:ea typeface="Be Vietnam Pro" pitchFamily="34" charset="-122"/>
                <a:cs typeface="Be Vietnam Pro" pitchFamily="34" charset="-120"/>
              </a:rPr>
              <a:t>Recall ≥ Recall prod − 0,05</a:t>
            </a:r>
            <a:endParaRPr lang="en-US" sz="1406" dirty="0"/>
          </a:p>
        </p:txBody>
      </p:sp>
      <p:sp>
        <p:nvSpPr>
          <p:cNvPr id="11" name="Text 8"/>
          <p:cNvSpPr/>
          <p:nvPr/>
        </p:nvSpPr>
        <p:spPr>
          <a:xfrm>
            <a:off x="7497683" y="3579732"/>
            <a:ext cx="4175455" cy="454422"/>
          </a:xfrm>
          <a:prstGeom prst="rect">
            <a:avLst/>
          </a:prstGeom>
          <a:noFill/>
          <a:ln/>
        </p:spPr>
        <p:txBody>
          <a:bodyPr wrap="square" lIns="0" tIns="0" rIns="0" bIns="0" rtlCol="0" anchor="t">
            <a:normAutofit/>
          </a:bodyPr>
          <a:lstStyle/>
          <a:p>
            <a:pPr algn="l" indent="0" marL="0">
              <a:lnSpc>
                <a:spcPts val="1712"/>
              </a:lnSpc>
              <a:buNone/>
            </a:pPr>
            <a:r>
              <a:rPr lang="en-US" sz="1223" dirty="0">
                <a:solidFill>
                  <a:srgbClr val="57606A"/>
                </a:solidFill>
                <a:latin typeface="Be Vietnam Pro" pitchFamily="34" charset="0"/>
                <a:ea typeface="Be Vietnam Pro" pitchFamily="34" charset="-122"/>
                <a:cs typeface="Be Vietnam Pro" pitchFamily="34" charset="-120"/>
              </a:rPr>
              <a:t>Chưa có production: AUC ≥ 0,75. Sàn 0,75 chặn model tụt dần</a:t>
            </a:r>
            <a:endParaRPr lang="en-US" sz="1223" dirty="0"/>
          </a:p>
        </p:txBody>
      </p:sp>
      <p:sp>
        <p:nvSpPr>
          <p:cNvPr id="12" name="Text 9"/>
          <p:cNvSpPr/>
          <p:nvPr/>
        </p:nvSpPr>
        <p:spPr>
          <a:xfrm>
            <a:off x="7238603" y="4315302"/>
            <a:ext cx="6357366"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F2328"/>
                </a:solidFill>
                <a:latin typeface="Be Vietnam Pro" pitchFamily="34" charset="0"/>
                <a:ea typeface="Be Vietnam Pro" pitchFamily="34" charset="-122"/>
                <a:cs typeface="Be Vietnam Pro" pitchFamily="34" charset="-120"/>
              </a:rPr>
              <a:t>Cổng </a:t>
            </a:r>
            <a:r>
              <a:rPr lang="en-US" sz="1600" b="1" dirty="0">
                <a:solidFill>
                  <a:srgbClr val="1F2328"/>
                </a:solidFill>
                <a:latin typeface="Be Vietnam Pro" pitchFamily="34" charset="0"/>
                <a:ea typeface="Be Vietnam Pro" pitchFamily="34" charset="-122"/>
                <a:cs typeface="Be Vietnam Pro" pitchFamily="34" charset="-120"/>
              </a:rPr>
              <a:t>all-or-nothing</a:t>
            </a:r>
            <a:r>
              <a:rPr lang="en-US" sz="1600" dirty="0">
                <a:solidFill>
                  <a:srgbClr val="1F2328"/>
                </a:solidFill>
                <a:latin typeface="Be Vietnam Pro" pitchFamily="34" charset="0"/>
                <a:ea typeface="Be Vietnam Pro" pitchFamily="34" charset="-122"/>
                <a:cs typeface="Be Vietnam Pro" pitchFamily="34" charset="-120"/>
              </a:rPr>
              <a:t>: một segment trượt</a:t>
            </a:r>
            <a:endParaRPr lang="en-US" sz="1600" dirty="0"/>
          </a:p>
          <a:p>
            <a:pPr algn="l" indent="0" marL="0">
              <a:lnSpc>
                <a:spcPts val="2160"/>
              </a:lnSpc>
              <a:buNone/>
            </a:pPr>
            <a:r>
              <a:rPr lang="en-US" sz="1600" dirty="0">
                <a:solidFill>
                  <a:srgbClr val="1F2328"/>
                </a:solidFill>
                <a:latin typeface="Be Vietnam Pro" pitchFamily="34" charset="0"/>
                <a:ea typeface="Be Vietnam Pro" pitchFamily="34" charset="-122"/>
                <a:cs typeface="Be Vietnam Pro" pitchFamily="34" charset="-120"/>
              </a:rPr>
              <a:t> thì cả bài toán trượt</a:t>
            </a:r>
            <a:endParaRPr lang="en-US" sz="1600" dirty="0"/>
          </a:p>
        </p:txBody>
      </p:sp>
      <p:sp>
        <p:nvSpPr>
          <p:cNvPr id="13" name="Text 10"/>
          <p:cNvSpPr/>
          <p:nvPr/>
        </p:nvSpPr>
        <p:spPr>
          <a:xfrm>
            <a:off x="7238603" y="4863945"/>
            <a:ext cx="6357366"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F2328"/>
                </a:solidFill>
                <a:latin typeface="Be Vietnam Pro" pitchFamily="34" charset="0"/>
                <a:ea typeface="Be Vietnam Pro" pitchFamily="34" charset="-122"/>
                <a:cs typeface="Be Vietnam Pro" pitchFamily="34" charset="-120"/>
              </a:rPr>
              <a:t>Airflow chỉ đặt </a:t>
            </a:r>
            <a:r>
              <a:rPr lang="en-US" sz="1600" b="1" dirty="0">
                <a:solidFill>
                  <a:srgbClr val="1F2328"/>
                </a:solidFill>
                <a:latin typeface="Be Vietnam Pro" pitchFamily="34" charset="0"/>
                <a:ea typeface="Be Vietnam Pro" pitchFamily="34" charset="-122"/>
                <a:cs typeface="Be Vietnam Pro" pitchFamily="34" charset="-120"/>
              </a:rPr>
              <a:t>@staging</a:t>
            </a:r>
            <a:r>
              <a:rPr lang="en-US" sz="1600" dirty="0">
                <a:solidFill>
                  <a:srgbClr val="1F2328"/>
                </a:solidFill>
                <a:latin typeface="Be Vietnam Pro" pitchFamily="34" charset="0"/>
                <a:ea typeface="Be Vietnam Pro" pitchFamily="34" charset="-122"/>
                <a:cs typeface="Be Vietnam Pro" pitchFamily="34" charset="-120"/>
              </a:rPr>
              <a:t>. </a:t>
            </a:r>
            <a:r>
              <a:rPr lang="en-US" sz="1600" b="1" dirty="0">
                <a:solidFill>
                  <a:srgbClr val="1F2328"/>
                </a:solidFill>
                <a:latin typeface="Be Vietnam Pro" pitchFamily="34" charset="0"/>
                <a:ea typeface="Be Vietnam Pro" pitchFamily="34" charset="-122"/>
                <a:cs typeface="Be Vietnam Pro" pitchFamily="34" charset="-120"/>
              </a:rPr>
              <a:t>@production</a:t>
            </a:r>
            <a:r>
              <a:rPr lang="en-US" sz="1600" dirty="0">
                <a:solidFill>
                  <a:srgbClr val="1F2328"/>
                </a:solidFill>
                <a:latin typeface="Be Vietnam Pro" pitchFamily="34" charset="0"/>
                <a:ea typeface="Be Vietnam Pro" pitchFamily="34" charset="-122"/>
                <a:cs typeface="Be Vietnam Pro" pitchFamily="34" charset="-120"/>
              </a:rPr>
              <a:t> do người</a:t>
            </a:r>
            <a:endParaRPr lang="en-US" sz="1600" dirty="0"/>
          </a:p>
          <a:p>
            <a:pPr algn="l" indent="0" marL="0">
              <a:lnSpc>
                <a:spcPts val="2160"/>
              </a:lnSpc>
              <a:buNone/>
            </a:pPr>
            <a:r>
              <a:rPr lang="en-US" sz="1600" dirty="0">
                <a:solidFill>
                  <a:srgbClr val="1F2328"/>
                </a:solidFill>
                <a:latin typeface="Be Vietnam Pro" pitchFamily="34" charset="0"/>
                <a:ea typeface="Be Vietnam Pro" pitchFamily="34" charset="-122"/>
                <a:cs typeface="Be Vietnam Pro" pitchFamily="34" charset="-120"/>
              </a:rPr>
              <a:t> vận hành duyệt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8A"/>
                </a:solidFill>
                <a:latin typeface="Be Vietnam Pro" pitchFamily="34" charset="0"/>
                <a:ea typeface="Be Vietnam Pro" pitchFamily="34" charset="-122"/>
                <a:cs typeface="Be Vietnam Pro" pitchFamily="34" charset="-120"/>
              </a:rPr>
              <a:t>Luồng 2/5 · Huấn luyện</a:t>
            </a:r>
            <a:endParaRPr lang="en-US" sz="1200" dirty="0"/>
          </a:p>
        </p:txBody>
      </p:sp>
      <p:sp>
        <p:nvSpPr>
          <p:cNvPr id="3" name="Text 1"/>
          <p:cNvSpPr/>
          <p:nvPr>
            <p:ph type="title"/>
          </p:nvPr>
        </p:nvSpPr>
        <p:spPr>
          <a:xfrm>
            <a:off x="812800" y="8737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28"/>
                </a:solidFill>
                <a:latin typeface="Be Vietnam Pro" pitchFamily="34" charset="0"/>
                <a:ea typeface="Be Vietnam Pro" pitchFamily="34" charset="-122"/>
                <a:cs typeface="Be Vietnam Pro" pitchFamily="34" charset="-120"/>
              </a:rPr>
              <a:t>MLflow: từ @staging lên @production</a:t>
            </a:r>
            <a:endParaRPr lang="en-US" sz="2800" dirty="0"/>
          </a:p>
        </p:txBody>
      </p:sp>
      <p:pic>
        <p:nvPicPr>
          <p:cNvPr id="4" name="Image 0" descr="MLflow registry: loan_propensity_au version 11 ở @production với tag huấn luyện, tag duyệt approved_by, replaced_version, data_end và tag drift">    </p:cNvPr>
          <p:cNvPicPr>
            <a:picLocks noChangeAspect="1"/>
          </p:cNvPicPr>
          <p:nvPr/>
        </p:nvPicPr>
        <p:blipFill>
          <a:blip r:embed="rId1"/>
          <a:stretch>
            <a:fillRect/>
          </a:stretch>
        </p:blipFill>
        <p:spPr>
          <a:xfrm>
            <a:off x="984843" y="1543050"/>
            <a:ext cx="4837514" cy="2781300"/>
          </a:xfrm>
          <a:prstGeom prst="rect">
            <a:avLst/>
          </a:prstGeom>
        </p:spPr>
      </p:pic>
      <p:sp>
        <p:nvSpPr>
          <p:cNvPr id="5" name="Shape 2"/>
          <p:cNvSpPr/>
          <p:nvPr/>
        </p:nvSpPr>
        <p:spPr>
          <a:xfrm>
            <a:off x="815975" y="1539875"/>
            <a:ext cx="5175250" cy="2787650"/>
          </a:xfrm>
          <a:prstGeom prst="roundRect">
            <a:avLst>
              <a:gd name="adj" fmla="val 2620"/>
            </a:avLst>
          </a:prstGeom>
          <a:noFill/>
          <a:ln w="6350">
            <a:solidFill>
              <a:srgbClr val="DDDFDB"/>
            </a:solidFill>
            <a:prstDash val="solid"/>
          </a:ln>
        </p:spPr>
      </p:sp>
      <p:sp>
        <p:nvSpPr>
          <p:cNvPr id="6" name="Text 3"/>
          <p:cNvSpPr/>
          <p:nvPr/>
        </p:nvSpPr>
        <p:spPr>
          <a:xfrm>
            <a:off x="812800" y="4432300"/>
            <a:ext cx="53370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7606A"/>
                </a:solidFill>
                <a:latin typeface="Be Vietnam Pro" pitchFamily="34" charset="0"/>
                <a:ea typeface="Be Vietnam Pro" pitchFamily="34" charset="-122"/>
                <a:cs typeface="Be Vietnam Pro" pitchFamily="34" charset="-120"/>
              </a:rPr>
              <a:t>1. Version 11: gate PASS, có tag duyệt và data_end</a:t>
            </a:r>
            <a:endParaRPr lang="en-US" sz="1400" dirty="0"/>
          </a:p>
        </p:txBody>
      </p:sp>
      <p:pic>
        <p:nvPicPr>
          <p:cNvPr id="7" name="Image 1" descr="MLflow UI: hộp thoại Add/Edit alias của version 11, đặt alias production">    </p:cNvPr>
          <p:cNvPicPr>
            <a:picLocks noChangeAspect="1"/>
          </p:cNvPicPr>
          <p:nvPr/>
        </p:nvPicPr>
        <p:blipFill>
          <a:blip r:embed="rId2"/>
          <a:stretch>
            <a:fillRect/>
          </a:stretch>
        </p:blipFill>
        <p:spPr>
          <a:xfrm>
            <a:off x="6540742" y="1543050"/>
            <a:ext cx="4495316" cy="2781300"/>
          </a:xfrm>
          <a:prstGeom prst="rect">
            <a:avLst/>
          </a:prstGeom>
        </p:spPr>
      </p:pic>
      <p:sp>
        <p:nvSpPr>
          <p:cNvPr id="8" name="Shape 4"/>
          <p:cNvSpPr/>
          <p:nvPr/>
        </p:nvSpPr>
        <p:spPr>
          <a:xfrm>
            <a:off x="6200775" y="1539875"/>
            <a:ext cx="5175250" cy="2787650"/>
          </a:xfrm>
          <a:prstGeom prst="roundRect">
            <a:avLst>
              <a:gd name="adj" fmla="val 2620"/>
            </a:avLst>
          </a:prstGeom>
          <a:noFill/>
          <a:ln w="6350">
            <a:solidFill>
              <a:srgbClr val="DDDFDB"/>
            </a:solidFill>
            <a:prstDash val="solid"/>
          </a:ln>
        </p:spPr>
      </p:sp>
      <p:sp>
        <p:nvSpPr>
          <p:cNvPr id="9" name="Text 5"/>
          <p:cNvSpPr/>
          <p:nvPr/>
        </p:nvSpPr>
        <p:spPr>
          <a:xfrm>
            <a:off x="6197600" y="4432300"/>
            <a:ext cx="53370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7606A"/>
                </a:solidFill>
                <a:latin typeface="Be Vietnam Pro" pitchFamily="34" charset="0"/>
                <a:ea typeface="Be Vietnam Pro" pitchFamily="34" charset="-122"/>
                <a:cs typeface="Be Vietnam Pro" pitchFamily="34" charset="-120"/>
              </a:rPr>
              <a:t>2. Người vận hành đặt alias production cho version 11</a:t>
            </a:r>
            <a:endParaRPr lang="en-US" sz="1400" dirty="0"/>
          </a:p>
        </p:txBody>
      </p:sp>
      <p:sp>
        <p:nvSpPr>
          <p:cNvPr id="10" name="Text 6"/>
          <p:cNvSpPr/>
          <p:nvPr/>
        </p:nvSpPr>
        <p:spPr>
          <a:xfrm>
            <a:off x="812800" y="493522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328"/>
                </a:solidFill>
                <a:latin typeface="Be Vietnam Pro" pitchFamily="34" charset="0"/>
                <a:ea typeface="Be Vietnam Pro" pitchFamily="34" charset="-122"/>
                <a:cs typeface="Be Vietnam Pro" pitchFamily="34" charset="-120"/>
              </a:rPr>
              <a:t>Rollback:</a:t>
            </a:r>
            <a:r>
              <a:rPr lang="en-US" sz="1600" dirty="0">
                <a:solidFill>
                  <a:srgbClr val="1F2328"/>
                </a:solidFill>
                <a:latin typeface="Be Vietnam Pro" pitchFamily="34" charset="0"/>
                <a:ea typeface="Be Vietnam Pro" pitchFamily="34" charset="-122"/>
                <a:cs typeface="Be Vietnam Pro" pitchFamily="34" charset="-120"/>
              </a:rPr>
              <a:t> trỏ alias production về version cũ. Version cũ không bị xoá.</a:t>
            </a:r>
            <a:endParaRPr lang="en-US" sz="1600" dirty="0"/>
          </a:p>
        </p:txBody>
      </p:sp>
      <p:sp>
        <p:nvSpPr>
          <p:cNvPr id="11" name="Text 7"/>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VDT</a:t>
            </a:r>
            <a:endParaRPr lang="en-US" sz="1200" dirty="0"/>
          </a:p>
        </p:txBody>
      </p:sp>
      <p:sp>
        <p:nvSpPr>
          <p:cNvPr id="12" name="Text 8"/>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VDT</a:t>
            </a:r>
            <a:endParaRPr lang="en-US" sz="1200" dirty="0"/>
          </a:p>
        </p:txBody>
      </p:sp>
      <p:sp>
        <p:nvSpPr>
          <p:cNvPr id="3" name="Text 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11</a:t>
            </a:r>
            <a:endParaRPr lang="en-US" sz="1200" dirty="0"/>
          </a:p>
        </p:txBody>
      </p:sp>
      <p:sp>
        <p:nvSpPr>
          <p:cNvPr id="4" name="Text 2"/>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8A"/>
                </a:solidFill>
                <a:latin typeface="Be Vietnam Pro" pitchFamily="34" charset="0"/>
                <a:ea typeface="Be Vietnam Pro" pitchFamily="34" charset="-122"/>
                <a:cs typeface="Be Vietnam Pro" pitchFamily="34" charset="-120"/>
              </a:rPr>
              <a:t>Luồng 3/5</a:t>
            </a:r>
            <a:endParaRPr lang="en-US" sz="1200" dirty="0"/>
          </a:p>
        </p:txBody>
      </p:sp>
      <p:sp>
        <p:nvSpPr>
          <p:cNvPr id="5" name="Text 3"/>
          <p:cNvSpPr/>
          <p:nvPr>
            <p:ph type="title"/>
          </p:nvPr>
        </p:nvSpPr>
        <p:spPr>
          <a:xfrm>
            <a:off x="812800" y="8737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28"/>
                </a:solidFill>
                <a:latin typeface="Be Vietnam Pro" pitchFamily="34" charset="0"/>
                <a:ea typeface="Be Vietnam Pro" pitchFamily="34" charset="-122"/>
                <a:cs typeface="Be Vietnam Pro" pitchFamily="34" charset="-120"/>
              </a:rPr>
              <a:t>Dự đoán batch hằng ngày</a:t>
            </a:r>
            <a:endParaRPr lang="en-US" sz="2800" dirty="0"/>
          </a:p>
        </p:txBody>
      </p:sp>
      <p:sp>
        <p:nvSpPr>
          <p:cNvPr id="6" name="Shape 4"/>
          <p:cNvSpPr/>
          <p:nvPr/>
        </p:nvSpPr>
        <p:spPr>
          <a:xfrm>
            <a:off x="6909515" y="4041062"/>
            <a:ext cx="4978400" cy="0"/>
          </a:xfrm>
          <a:prstGeom prst="line">
            <a:avLst/>
          </a:prstGeom>
          <a:noFill/>
          <a:ln w="6350">
            <a:solidFill>
              <a:srgbClr val="DDDFDB"/>
            </a:solidFill>
            <a:prstDash val="solid"/>
          </a:ln>
        </p:spPr>
      </p:sp>
      <p:sp>
        <p:nvSpPr>
          <p:cNvPr id="7" name="Text 5"/>
          <p:cNvSpPr/>
          <p:nvPr/>
        </p:nvSpPr>
        <p:spPr>
          <a:xfrm>
            <a:off x="6909515" y="4195366"/>
            <a:ext cx="1410653"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2F5D8A"/>
                </a:solidFill>
                <a:latin typeface="Be Vietnam Pro" pitchFamily="34" charset="0"/>
                <a:ea typeface="Be Vietnam Pro" pitchFamily="34" charset="-122"/>
                <a:cs typeface="Be Vietnam Pro" pitchFamily="34" charset="-120"/>
              </a:rPr>
              <a:t>4.731</a:t>
            </a:r>
            <a:endParaRPr lang="en-US" sz="3600" dirty="0"/>
          </a:p>
        </p:txBody>
      </p:sp>
      <p:sp>
        <p:nvSpPr>
          <p:cNvPr id="8" name="Text 6"/>
          <p:cNvSpPr/>
          <p:nvPr/>
        </p:nvSpPr>
        <p:spPr>
          <a:xfrm>
            <a:off x="8320167" y="4495087"/>
            <a:ext cx="338601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7606A"/>
                </a:solidFill>
                <a:latin typeface="Be Vietnam Pro" pitchFamily="34" charset="0"/>
                <a:ea typeface="Be Vietnam Pro" pitchFamily="34" charset="-122"/>
                <a:cs typeface="Be Vietnam Pro" pitchFamily="34" charset="-120"/>
              </a:rPr>
              <a:t>dòng được chấm ngày 30/01/2026</a:t>
            </a:r>
            <a:endParaRPr lang="en-US" sz="1400" dirty="0"/>
          </a:p>
          <a:p>
            <a:pPr algn="l" indent="0" marL="0">
              <a:lnSpc>
                <a:spcPts val="1960"/>
              </a:lnSpc>
              <a:buNone/>
            </a:pPr>
            <a:r>
              <a:rPr lang="en-US" sz="1400" dirty="0">
                <a:solidFill>
                  <a:srgbClr val="57606A"/>
                </a:solidFill>
                <a:latin typeface="Be Vietnam Pro" pitchFamily="34" charset="0"/>
                <a:ea typeface="Be Vietnam Pro" pitchFamily="34" charset="-122"/>
                <a:cs typeface="Be Vietnam Pro" pitchFamily="34" charset="-120"/>
              </a:rPr>
              <a:t>(au 1.807 · lu 1.965 · nu 959), version 11</a:t>
            </a:r>
            <a:endParaRPr lang="en-US" sz="1400" dirty="0"/>
          </a:p>
        </p:txBody>
      </p:sp>
      <p:pic>
        <p:nvPicPr>
          <p:cNvPr id="9" name="Image 0" descr="Luồng dự đoán batch: predict, drift, retrain_check với 3 điều kiện (critical, có nhãn mới hơn data_end, quá cooldown 7 ngày), rẽ nhánh trigger_retrain hoặc bỏ qua">    </p:cNvPr>
          <p:cNvPicPr>
            <a:picLocks noChangeAspect="1"/>
          </p:cNvPicPr>
          <p:nvPr/>
        </p:nvPicPr>
        <p:blipFill>
          <a:blip r:embed="rId1"/>
          <a:stretch>
            <a:fillRect/>
          </a:stretch>
        </p:blipFill>
        <p:spPr>
          <a:xfrm>
            <a:off x="1479934" y="1289050"/>
            <a:ext cx="4660133" cy="5446236"/>
          </a:xfrm>
          <a:prstGeom prst="rect">
            <a:avLst/>
          </a:prstGeom>
        </p:spPr>
      </p:pic>
      <p:sp>
        <p:nvSpPr>
          <p:cNvPr id="10" name="Shape 7"/>
          <p:cNvSpPr/>
          <p:nvPr/>
        </p:nvSpPr>
        <p:spPr>
          <a:xfrm>
            <a:off x="1273175" y="1285875"/>
            <a:ext cx="5073650" cy="5452586"/>
          </a:xfrm>
          <a:prstGeom prst="roundRect">
            <a:avLst>
              <a:gd name="adj" fmla="val 1439"/>
            </a:avLst>
          </a:prstGeom>
          <a:noFill/>
          <a:ln w="6350">
            <a:solidFill>
              <a:srgbClr val="DDDFDB"/>
            </a:solidFill>
            <a:prstDash val="solid"/>
          </a:ln>
        </p:spPr>
      </p:sp>
      <p:sp>
        <p:nvSpPr>
          <p:cNvPr id="11" name="Text 8"/>
          <p:cNvSpPr/>
          <p:nvPr/>
        </p:nvSpPr>
        <p:spPr>
          <a:xfrm>
            <a:off x="6909515" y="2339342"/>
            <a:ext cx="6435852"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F2328"/>
                </a:solidFill>
                <a:latin typeface="Be Vietnam Pro" pitchFamily="34" charset="0"/>
                <a:ea typeface="Be Vietnam Pro" pitchFamily="34" charset="-122"/>
                <a:cs typeface="Be Vietnam Pro" pitchFamily="34" charset="-120"/>
              </a:rPr>
              <a:t>Chốt version </a:t>
            </a:r>
            <a:r>
              <a:rPr lang="en-US" sz="1600" b="1" dirty="0">
                <a:solidFill>
                  <a:srgbClr val="1F2328"/>
                </a:solidFill>
                <a:latin typeface="Be Vietnam Pro" pitchFamily="34" charset="0"/>
                <a:ea typeface="Be Vietnam Pro" pitchFamily="34" charset="-122"/>
                <a:cs typeface="Be Vietnam Pro" pitchFamily="34" charset="-120"/>
              </a:rPr>
              <a:t>@production</a:t>
            </a:r>
            <a:r>
              <a:rPr lang="en-US" sz="1600" dirty="0">
                <a:solidFill>
                  <a:srgbClr val="1F2328"/>
                </a:solidFill>
                <a:latin typeface="Be Vietnam Pro" pitchFamily="34" charset="0"/>
                <a:ea typeface="Be Vietnam Pro" pitchFamily="34" charset="-122"/>
                <a:cs typeface="Be Vietnam Pro" pitchFamily="34" charset="-120"/>
              </a:rPr>
              <a:t> một lần, </a:t>
            </a:r>
            <a:endParaRPr lang="en-US" sz="1600" dirty="0"/>
          </a:p>
          <a:p>
            <a:pPr algn="l" indent="0" marL="0">
              <a:lnSpc>
                <a:spcPts val="2160"/>
              </a:lnSpc>
              <a:buNone/>
            </a:pPr>
            <a:r>
              <a:rPr lang="en-US" sz="1600" dirty="0">
                <a:solidFill>
                  <a:srgbClr val="1F2328"/>
                </a:solidFill>
                <a:latin typeface="Be Vietnam Pro" pitchFamily="34" charset="0"/>
                <a:ea typeface="Be Vietnam Pro" pitchFamily="34" charset="-122"/>
                <a:cs typeface="Be Vietnam Pro" pitchFamily="34" charset="-120"/>
              </a:rPr>
              <a:t>nên một lần chạy không trộn hai version</a:t>
            </a:r>
            <a:endParaRPr lang="en-US" sz="1600" dirty="0"/>
          </a:p>
        </p:txBody>
      </p:sp>
      <p:sp>
        <p:nvSpPr>
          <p:cNvPr id="12" name="Text 9"/>
          <p:cNvSpPr/>
          <p:nvPr/>
        </p:nvSpPr>
        <p:spPr>
          <a:xfrm>
            <a:off x="6909515" y="3091179"/>
            <a:ext cx="643585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F2328"/>
                </a:solidFill>
                <a:latin typeface="Be Vietnam Pro" pitchFamily="34" charset="0"/>
                <a:ea typeface="Be Vietnam Pro" pitchFamily="34" charset="-122"/>
                <a:cs typeface="Be Vietnam Pro" pitchFamily="34" charset="-120"/>
              </a:rPr>
              <a:t>Đọc fs_* ngày T, chấm theo segment, lưu </a:t>
            </a:r>
            <a:r>
              <a:rPr lang="en-US" sz="1600" b="1" dirty="0">
                <a:solidFill>
                  <a:srgbClr val="1F2328"/>
                </a:solidFill>
                <a:latin typeface="Be Vietnam Pro" pitchFamily="34" charset="0"/>
                <a:ea typeface="Be Vietnam Pro" pitchFamily="34" charset="-122"/>
                <a:cs typeface="Be Vietnam Pro" pitchFamily="34" charset="-120"/>
              </a:rPr>
              <a:t>điểm thô</a:t>
            </a:r>
            <a:endParaRPr lang="en-US" sz="1600" dirty="0"/>
          </a:p>
        </p:txBody>
      </p:sp>
      <p:sp>
        <p:nvSpPr>
          <p:cNvPr id="13" name="Text 10"/>
          <p:cNvSpPr/>
          <p:nvPr/>
        </p:nvSpPr>
        <p:spPr>
          <a:xfrm>
            <a:off x="6909515" y="3568700"/>
            <a:ext cx="643585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F2328"/>
                </a:solidFill>
                <a:latin typeface="Be Vietnam Pro" pitchFamily="34" charset="0"/>
                <a:ea typeface="Be Vietnam Pro" pitchFamily="34" charset="-122"/>
                <a:cs typeface="Be Vietnam Pro" pitchFamily="34" charset="-120"/>
              </a:rPr>
              <a:t>Ghi pred_loan_propensity, partition score_date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8A"/>
                </a:solidFill>
                <a:latin typeface="Be Vietnam Pro" pitchFamily="34" charset="0"/>
                <a:ea typeface="Be Vietnam Pro" pitchFamily="34" charset="-122"/>
                <a:cs typeface="Be Vietnam Pro" pitchFamily="34" charset="-120"/>
              </a:rPr>
              <a:t>Luồng 3/5</a:t>
            </a:r>
            <a:endParaRPr lang="en-US" sz="1200" dirty="0"/>
          </a:p>
        </p:txBody>
      </p:sp>
      <p:sp>
        <p:nvSpPr>
          <p:cNvPr id="3" name="Text 1"/>
          <p:cNvSpPr/>
          <p:nvPr>
            <p:ph type="title"/>
          </p:nvPr>
        </p:nvSpPr>
        <p:spPr>
          <a:xfrm>
            <a:off x="812800" y="8737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28"/>
                </a:solidFill>
                <a:latin typeface="Be Vietnam Pro" pitchFamily="34" charset="0"/>
                <a:ea typeface="Be Vietnam Pro" pitchFamily="34" charset="-122"/>
                <a:cs typeface="Be Vietnam Pro" pitchFamily="34" charset="-120"/>
              </a:rPr>
              <a:t>Giám sát drift và quyết định retrain</a:t>
            </a:r>
            <a:endParaRPr lang="en-US" sz="2800" dirty="0"/>
          </a:p>
        </p:txBody>
      </p:sp>
      <p:pic>
        <p:nvPicPr>
          <p:cNvPr id="4" name="Image 0" descr="Báo cáo Evidently: 12 trên 24 cột bị drift, 50%">    </p:cNvPr>
          <p:cNvPicPr>
            <a:picLocks noChangeAspect="1"/>
          </p:cNvPicPr>
          <p:nvPr/>
        </p:nvPicPr>
        <p:blipFill>
          <a:blip r:embed="rId1"/>
          <a:stretch>
            <a:fillRect/>
          </a:stretch>
        </p:blipFill>
        <p:spPr>
          <a:xfrm>
            <a:off x="1142934" y="2165350"/>
            <a:ext cx="6070732" cy="3149600"/>
          </a:xfrm>
          <a:prstGeom prst="rect">
            <a:avLst/>
          </a:prstGeom>
        </p:spPr>
      </p:pic>
      <p:sp>
        <p:nvSpPr>
          <p:cNvPr id="5" name="Shape 2"/>
          <p:cNvSpPr/>
          <p:nvPr/>
        </p:nvSpPr>
        <p:spPr>
          <a:xfrm>
            <a:off x="815975" y="2162175"/>
            <a:ext cx="6724650" cy="3155950"/>
          </a:xfrm>
          <a:prstGeom prst="roundRect">
            <a:avLst>
              <a:gd name="adj" fmla="val 2314"/>
            </a:avLst>
          </a:prstGeom>
          <a:noFill/>
          <a:ln w="6350">
            <a:solidFill>
              <a:srgbClr val="DDDFDB"/>
            </a:solidFill>
            <a:prstDash val="solid"/>
          </a:ln>
        </p:spPr>
      </p:sp>
      <p:sp>
        <p:nvSpPr>
          <p:cNvPr id="6" name="Text 3"/>
          <p:cNvSpPr/>
          <p:nvPr/>
        </p:nvSpPr>
        <p:spPr>
          <a:xfrm>
            <a:off x="7950200" y="1864996"/>
            <a:ext cx="353187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7606A"/>
                </a:solidFill>
                <a:latin typeface="Be Vietnam Pro" pitchFamily="34" charset="0"/>
                <a:ea typeface="Be Vietnam Pro" pitchFamily="34" charset="-122"/>
                <a:cs typeface="Be Vietnam Pro" pitchFamily="34" charset="-120"/>
              </a:rPr>
              <a:t>So 24 đặc trưng với ngày data_end của version production. Drift ratio = số cột lệch / 24</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960360" y="2799714"/>
          <a:ext cx="3418840" cy="1917700"/>
        </p:xfrm>
        <a:graphic>
          <a:graphicData uri="http://schemas.openxmlformats.org/drawingml/2006/table">
            <a:tbl>
              <a:tblPr/>
              <a:tblGrid>
                <a:gridCol w="1709420"/>
                <a:gridCol w="1709420"/>
              </a:tblGrid>
              <a:tr h="383540">
                <a:tc>
                  <a:txBody>
                    <a:bodyPr/>
                    <a:lstStyle/>
                    <a:p>
                      <a:pPr indent="0" marL="0">
                        <a:lnSpc>
                          <a:spcPts val="1960"/>
                        </a:lnSpc>
                        <a:buNone/>
                      </a:pPr>
                      <a:r>
                        <a:rPr lang="en-US" sz="1400" b="1" dirty="0">
                          <a:solidFill>
                            <a:srgbClr val="1F2328"/>
                          </a:solidFill>
                          <a:latin typeface="Be Vietnam Pro" pitchFamily="34" charset="0"/>
                          <a:ea typeface="Be Vietnam Pro" pitchFamily="34" charset="-122"/>
                          <a:cs typeface="Be Vietnam Pro" pitchFamily="34" charset="-120"/>
                        </a:rPr>
                        <a:t>Mức</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B9B9B8"/>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B9B9B8"/>
                      </a:solidFill>
                      <a:prstDash val="solid"/>
                      <a:round/>
                      <a:headEnd type="none" w="med" len="med"/>
                      <a:tailEnd type="none" w="med" len="med"/>
                    </a:lnB>
                    <a:solidFill>
                      <a:srgbClr val="E8E8E6"/>
                    </a:solidFill>
                  </a:tcPr>
                </a:tc>
                <a:tc>
                  <a:txBody>
                    <a:bodyPr/>
                    <a:lstStyle/>
                    <a:p>
                      <a:pPr indent="0" marL="0">
                        <a:lnSpc>
                          <a:spcPts val="1960"/>
                        </a:lnSpc>
                        <a:buNone/>
                      </a:pPr>
                      <a:r>
                        <a:rPr lang="en-US" sz="1400" b="1" dirty="0">
                          <a:solidFill>
                            <a:srgbClr val="1F2328"/>
                          </a:solidFill>
                          <a:latin typeface="Be Vietnam Pro" pitchFamily="34" charset="0"/>
                          <a:ea typeface="Be Vietnam Pro" pitchFamily="34" charset="-122"/>
                          <a:cs typeface="Be Vietnam Pro" pitchFamily="34" charset="-120"/>
                        </a:rPr>
                        <a:t>Ratio</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B9B9B8"/>
                      </a:solidFill>
                      <a:prstDash val="solid"/>
                      <a:round/>
                      <a:headEnd type="none" w="med" len="med"/>
                      <a:tailEnd type="none" w="med" len="med"/>
                    </a:lnL>
                    <a:lnR w="12700" cap="flat" cmpd="sng" algn="ctr">
                      <a:solidFill>
                        <a:srgbClr val="B9B9B8"/>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B9B9B8"/>
                      </a:solidFill>
                      <a:prstDash val="solid"/>
                      <a:round/>
                      <a:headEnd type="none" w="med" len="med"/>
                      <a:tailEnd type="none" w="med" len="med"/>
                    </a:lnB>
                    <a:solidFill>
                      <a:srgbClr val="E8E8E6"/>
                    </a:solidFill>
                  </a:tcPr>
                </a:tc>
              </a:tr>
              <a:tr h="383540">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none</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B9B9B8"/>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0</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B9B9B8"/>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r>
              <a:tr h="383540">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medium</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 0,20</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r>
              <a:tr h="383540">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high</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 0,50</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r>
              <a:tr h="383540">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critical</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&gt; 0,50</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r>
            </a:tbl>
          </a:graphicData>
        </a:graphic>
      </p:graphicFrame>
      <p:sp>
        <p:nvSpPr>
          <p:cNvPr id="8" name="Text 4"/>
          <p:cNvSpPr/>
          <p:nvPr/>
        </p:nvSpPr>
        <p:spPr>
          <a:xfrm>
            <a:off x="7950200" y="4895217"/>
            <a:ext cx="3531870"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328"/>
                </a:solidFill>
                <a:latin typeface="Be Vietnam Pro" pitchFamily="34" charset="0"/>
                <a:ea typeface="Be Vietnam Pro" pitchFamily="34" charset="-122"/>
                <a:cs typeface="Be Vietnam Pro" pitchFamily="34" charset="-120"/>
              </a:rPr>
              <a:t>Tự gọi huấn luyện khi đủ 3 điều kiện: </a:t>
            </a:r>
            <a:r>
              <a:rPr lang="en-US" sz="1400" b="1" dirty="0">
                <a:solidFill>
                  <a:srgbClr val="1F2328"/>
                </a:solidFill>
                <a:latin typeface="Be Vietnam Pro" pitchFamily="34" charset="0"/>
                <a:ea typeface="Be Vietnam Pro" pitchFamily="34" charset="-122"/>
                <a:cs typeface="Be Vietnam Pro" pitchFamily="34" charset="-120"/>
              </a:rPr>
              <a:t>critical</a:t>
            </a:r>
            <a:r>
              <a:rPr lang="en-US" sz="1400" dirty="0">
                <a:solidFill>
                  <a:srgbClr val="1F2328"/>
                </a:solidFill>
                <a:latin typeface="Be Vietnam Pro" pitchFamily="34" charset="0"/>
                <a:ea typeface="Be Vietnam Pro" pitchFamily="34" charset="-122"/>
                <a:cs typeface="Be Vietnam Pro" pitchFamily="34" charset="-120"/>
              </a:rPr>
              <a:t>, có nhãn mới hơn data_end, quá cooldown 7 ngày</a:t>
            </a:r>
            <a:endParaRPr lang="en-US" sz="1400" dirty="0"/>
          </a:p>
        </p:txBody>
      </p:sp>
      <p:sp>
        <p:nvSpPr>
          <p:cNvPr id="9" name="Text 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Ví dụ 30/01/2026 so với 31/12/2025 (data_end của v11): 12/24 cột (50%), mức high</a:t>
            </a:r>
            <a:endParaRPr lang="en-US" sz="1200" dirty="0"/>
          </a:p>
        </p:txBody>
      </p:sp>
      <p:sp>
        <p:nvSpPr>
          <p:cNvPr id="10" name="Text 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VDT</a:t>
            </a:r>
            <a:endParaRPr lang="en-US" sz="1200" dirty="0"/>
          </a:p>
        </p:txBody>
      </p:sp>
      <p:sp>
        <p:nvSpPr>
          <p:cNvPr id="3" name="Text 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13</a:t>
            </a:r>
            <a:endParaRPr lang="en-US" sz="1200" dirty="0"/>
          </a:p>
        </p:txBody>
      </p:sp>
      <p:sp>
        <p:nvSpPr>
          <p:cNvPr id="4" name="Text 2"/>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8A"/>
                </a:solidFill>
                <a:latin typeface="Be Vietnam Pro" pitchFamily="34" charset="0"/>
                <a:ea typeface="Be Vietnam Pro" pitchFamily="34" charset="-122"/>
                <a:cs typeface="Be Vietnam Pro" pitchFamily="34" charset="-120"/>
              </a:rPr>
              <a:t>Luồng 4/5</a:t>
            </a:r>
            <a:endParaRPr lang="en-US" sz="1200" dirty="0"/>
          </a:p>
        </p:txBody>
      </p:sp>
      <p:sp>
        <p:nvSpPr>
          <p:cNvPr id="5" name="Text 3"/>
          <p:cNvSpPr/>
          <p:nvPr>
            <p:ph type="title"/>
          </p:nvPr>
        </p:nvSpPr>
        <p:spPr>
          <a:xfrm>
            <a:off x="812800" y="8737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28"/>
                </a:solidFill>
                <a:latin typeface="Be Vietnam Pro" pitchFamily="34" charset="0"/>
                <a:ea typeface="Be Vietnam Pro" pitchFamily="34" charset="-122"/>
                <a:cs typeface="Be Vietnam Pro" pitchFamily="34" charset="-120"/>
              </a:rPr>
              <a:t>Triển khai lên KServe bằng GitOps</a:t>
            </a:r>
            <a:endParaRPr lang="en-US" sz="2800" dirty="0"/>
          </a:p>
        </p:txBody>
      </p:sp>
      <p:pic>
        <p:nvPicPr>
          <p:cNvPr id="6" name="Image 0" descr="Luồng triển khai: alias production, deployer, GitHub, ArgoCD, KServe">    </p:cNvPr>
          <p:cNvPicPr>
            <a:picLocks noChangeAspect="1"/>
          </p:cNvPicPr>
          <p:nvPr/>
        </p:nvPicPr>
        <p:blipFill>
          <a:blip r:embed="rId1"/>
          <a:stretch>
            <a:fillRect/>
          </a:stretch>
        </p:blipFill>
        <p:spPr>
          <a:xfrm>
            <a:off x="1234549" y="1479631"/>
            <a:ext cx="5683271" cy="5261134"/>
          </a:xfrm>
          <a:prstGeom prst="rect">
            <a:avLst/>
          </a:prstGeom>
        </p:spPr>
      </p:pic>
      <p:sp>
        <p:nvSpPr>
          <p:cNvPr id="7" name="Shape 4"/>
          <p:cNvSpPr/>
          <p:nvPr/>
        </p:nvSpPr>
        <p:spPr>
          <a:xfrm>
            <a:off x="815975" y="1476456"/>
            <a:ext cx="6520418" cy="5267484"/>
          </a:xfrm>
          <a:prstGeom prst="roundRect">
            <a:avLst>
              <a:gd name="adj" fmla="val 1386"/>
            </a:avLst>
          </a:prstGeom>
          <a:noFill/>
          <a:ln w="6350">
            <a:solidFill>
              <a:srgbClr val="DDDFDB"/>
            </a:solidFill>
            <a:prstDash val="solid"/>
          </a:ln>
        </p:spPr>
      </p:sp>
      <p:sp>
        <p:nvSpPr>
          <p:cNvPr id="8" name="Text 5"/>
          <p:cNvSpPr/>
          <p:nvPr/>
        </p:nvSpPr>
        <p:spPr>
          <a:xfrm>
            <a:off x="7159387" y="2353946"/>
            <a:ext cx="5376291" cy="29972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F2328"/>
                </a:solidFill>
                <a:latin typeface="Be Vietnam Pro" pitchFamily="34" charset="0"/>
                <a:ea typeface="Be Vietnam Pro" pitchFamily="34" charset="-122"/>
                <a:cs typeface="Be Vietnam Pro" pitchFamily="34" charset="-120"/>
              </a:rPr>
              <a:t>1.</a:t>
            </a:r>
            <a:r>
              <a:rPr lang="en-US" sz="1600" dirty="0">
                <a:solidFill>
                  <a:srgbClr val="1F2328"/>
                </a:solidFill>
                <a:latin typeface="Be Vietnam Pro" pitchFamily="34" charset="0"/>
                <a:ea typeface="Be Vietnam Pro" pitchFamily="34" charset="-122"/>
                <a:cs typeface="Be Vietnam Pro" pitchFamily="34" charset="-120"/>
              </a:rPr>
              <a:t> Deployer đọc alias @production mỗi 60 giây</a:t>
            </a:r>
            <a:endParaRPr lang="en-US" sz="1600" dirty="0"/>
          </a:p>
        </p:txBody>
      </p:sp>
      <p:sp>
        <p:nvSpPr>
          <p:cNvPr id="9" name="Text 6"/>
          <p:cNvSpPr/>
          <p:nvPr/>
        </p:nvSpPr>
        <p:spPr>
          <a:xfrm>
            <a:off x="7159387" y="2804796"/>
            <a:ext cx="5376291"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F2328"/>
                </a:solidFill>
                <a:latin typeface="Be Vietnam Pro" pitchFamily="34" charset="0"/>
                <a:ea typeface="Be Vietnam Pro" pitchFamily="34" charset="-122"/>
                <a:cs typeface="Be Vietnam Pro" pitchFamily="34" charset="-120"/>
              </a:rPr>
              <a:t>2.</a:t>
            </a:r>
            <a:r>
              <a:rPr lang="en-US" sz="1600" dirty="0">
                <a:solidFill>
                  <a:srgbClr val="1F2328"/>
                </a:solidFill>
                <a:latin typeface="Be Vietnam Pro" pitchFamily="34" charset="0"/>
                <a:ea typeface="Be Vietnam Pro" pitchFamily="34" charset="-122"/>
                <a:cs typeface="Be Vietnam Pro" pitchFamily="34" charset="-120"/>
              </a:rPr>
              <a:t> Lập kế hoạch: skip, unchanged, blocked, create hoặc update</a:t>
            </a:r>
            <a:endParaRPr lang="en-US" sz="1600" dirty="0"/>
          </a:p>
        </p:txBody>
      </p:sp>
      <p:sp>
        <p:nvSpPr>
          <p:cNvPr id="10" name="Text 7"/>
          <p:cNvSpPr/>
          <p:nvPr/>
        </p:nvSpPr>
        <p:spPr>
          <a:xfrm>
            <a:off x="7159387" y="3535046"/>
            <a:ext cx="5376291" cy="29972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F2328"/>
                </a:solidFill>
                <a:latin typeface="Be Vietnam Pro" pitchFamily="34" charset="0"/>
                <a:ea typeface="Be Vietnam Pro" pitchFamily="34" charset="-122"/>
                <a:cs typeface="Be Vietnam Pro" pitchFamily="34" charset="-120"/>
              </a:rPr>
              <a:t>3.</a:t>
            </a:r>
            <a:r>
              <a:rPr lang="en-US" sz="1600" dirty="0">
                <a:solidFill>
                  <a:srgbClr val="1F2328"/>
                </a:solidFill>
                <a:latin typeface="Be Vietnam Pro" pitchFamily="34" charset="0"/>
                <a:ea typeface="Be Vietnam Pro" pitchFamily="34" charset="-122"/>
                <a:cs typeface="Be Vietnam Pro" pitchFamily="34" charset="-120"/>
              </a:rPr>
              <a:t> Commit manifest lên GitHub</a:t>
            </a:r>
            <a:endParaRPr lang="en-US" sz="1600" dirty="0"/>
          </a:p>
        </p:txBody>
      </p:sp>
      <p:sp>
        <p:nvSpPr>
          <p:cNvPr id="11" name="Text 8"/>
          <p:cNvSpPr/>
          <p:nvPr/>
        </p:nvSpPr>
        <p:spPr>
          <a:xfrm>
            <a:off x="7159387" y="3985896"/>
            <a:ext cx="5376291" cy="29972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F2328"/>
                </a:solidFill>
                <a:latin typeface="Be Vietnam Pro" pitchFamily="34" charset="0"/>
                <a:ea typeface="Be Vietnam Pro" pitchFamily="34" charset="-122"/>
                <a:cs typeface="Be Vietnam Pro" pitchFamily="34" charset="-120"/>
              </a:rPr>
              <a:t>4.</a:t>
            </a:r>
            <a:r>
              <a:rPr lang="en-US" sz="1600" dirty="0">
                <a:solidFill>
                  <a:srgbClr val="1F2328"/>
                </a:solidFill>
                <a:latin typeface="Be Vietnam Pro" pitchFamily="34" charset="0"/>
                <a:ea typeface="Be Vietnam Pro" pitchFamily="34" charset="-122"/>
                <a:cs typeface="Be Vietnam Pro" pitchFamily="34" charset="-120"/>
              </a:rPr>
              <a:t> ArgoCD tự đồng bộ vào cụm</a:t>
            </a:r>
            <a:endParaRPr lang="en-US" sz="1600" dirty="0"/>
          </a:p>
        </p:txBody>
      </p:sp>
      <p:sp>
        <p:nvSpPr>
          <p:cNvPr id="12" name="Text 9"/>
          <p:cNvSpPr/>
          <p:nvPr/>
        </p:nvSpPr>
        <p:spPr>
          <a:xfrm>
            <a:off x="7159387" y="4436746"/>
            <a:ext cx="5376291"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F2328"/>
                </a:solidFill>
                <a:latin typeface="Be Vietnam Pro" pitchFamily="34" charset="0"/>
                <a:ea typeface="Be Vietnam Pro" pitchFamily="34" charset="-122"/>
                <a:cs typeface="Be Vietnam Pro" pitchFamily="34" charset="-120"/>
              </a:rPr>
              <a:t>5.</a:t>
            </a:r>
            <a:r>
              <a:rPr lang="en-US" sz="1600" dirty="0">
                <a:solidFill>
                  <a:srgbClr val="1F2328"/>
                </a:solidFill>
                <a:latin typeface="Be Vietnam Pro" pitchFamily="34" charset="0"/>
                <a:ea typeface="Be Vietnam Pro" pitchFamily="34" charset="-122"/>
                <a:cs typeface="Be Vietnam Pro" pitchFamily="34" charset="-120"/>
              </a:rPr>
              <a:t> KServe tạo pod mới, gỡ pod cũ khi pod mới sẵn sàng</a:t>
            </a:r>
            <a:endParaRPr lang="en-US" sz="1600" dirty="0"/>
          </a:p>
        </p:txBody>
      </p:sp>
      <p:sp>
        <p:nvSpPr>
          <p:cNvPr id="13" name="Text 10"/>
          <p:cNvSpPr/>
          <p:nvPr/>
        </p:nvSpPr>
        <p:spPr>
          <a:xfrm>
            <a:off x="7159387" y="5166996"/>
            <a:ext cx="53762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7606A"/>
                </a:solidFill>
                <a:latin typeface="Be Vietnam Pro" pitchFamily="34" charset="0"/>
                <a:ea typeface="Be Vietnam Pro" pitchFamily="34" charset="-122"/>
                <a:cs typeface="Be Vietnam Pro" pitchFamily="34" charset="-120"/>
              </a:rPr>
              <a:t>Sửa tay trong cụm sẽ bị ArgoCD hoàn nguyên (self-heal)</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8A"/>
                </a:solidFill>
                <a:latin typeface="Be Vietnam Pro" pitchFamily="34" charset="0"/>
                <a:ea typeface="Be Vietnam Pro" pitchFamily="34" charset="-122"/>
                <a:cs typeface="Be Vietnam Pro" pitchFamily="34" charset="-120"/>
              </a:rPr>
              <a:t>Luồng 4/5</a:t>
            </a:r>
            <a:endParaRPr lang="en-US" sz="1200" dirty="0"/>
          </a:p>
        </p:txBody>
      </p:sp>
      <p:sp>
        <p:nvSpPr>
          <p:cNvPr id="3" name="Text 1"/>
          <p:cNvSpPr/>
          <p:nvPr>
            <p:ph type="title"/>
          </p:nvPr>
        </p:nvSpPr>
        <p:spPr>
          <a:xfrm>
            <a:off x="812800" y="8737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28"/>
                </a:solidFill>
                <a:latin typeface="Be Vietnam Pro" pitchFamily="34" charset="0"/>
                <a:ea typeface="Be Vietnam Pro" pitchFamily="34" charset="-122"/>
                <a:cs typeface="Be Vietnam Pro" pitchFamily="34" charset="-120"/>
              </a:rPr>
              <a:t>Kết quả triển khai</a:t>
            </a:r>
            <a:endParaRPr lang="en-US" sz="2800" dirty="0"/>
          </a:p>
        </p:txBody>
      </p:sp>
      <p:pic>
        <p:nvPicPr>
          <p:cNvPr id="4" name="Image 0" descr="ArgoCD: Application serving Healthy và Synced, cây InferenceService, Deployment, Pod">    </p:cNvPr>
          <p:cNvPicPr>
            <a:picLocks noChangeAspect="1"/>
          </p:cNvPicPr>
          <p:nvPr/>
        </p:nvPicPr>
        <p:blipFill>
          <a:blip r:embed="rId1"/>
          <a:srcRect l="-95" r="-95" t="0" b="0"/>
          <a:stretch/>
        </p:blipFill>
        <p:spPr>
          <a:xfrm>
            <a:off x="819150" y="1447800"/>
            <a:ext cx="6337300" cy="3035300"/>
          </a:xfrm>
          <a:prstGeom prst="roundRect">
            <a:avLst>
              <a:gd name="adj" fmla="val 2301"/>
            </a:avLst>
          </a:prstGeom>
        </p:spPr>
      </p:pic>
      <p:sp>
        <p:nvSpPr>
          <p:cNvPr id="5" name="Shape 2"/>
          <p:cNvSpPr/>
          <p:nvPr/>
        </p:nvSpPr>
        <p:spPr>
          <a:xfrm>
            <a:off x="815975" y="1444625"/>
            <a:ext cx="6343650" cy="3041650"/>
          </a:xfrm>
          <a:prstGeom prst="roundRect">
            <a:avLst>
              <a:gd name="adj" fmla="val 2401"/>
            </a:avLst>
          </a:prstGeom>
          <a:noFill/>
          <a:ln w="6350">
            <a:solidFill>
              <a:srgbClr val="DDDFDB"/>
            </a:solidFill>
            <a:prstDash val="solid"/>
          </a:ln>
        </p:spPr>
      </p:sp>
      <p:pic>
        <p:nvPicPr>
          <p:cNvPr id="6" name="Image 1" descr="Kết quả predict_check: version 11, status PASS, max_abs_diff 0.0">    </p:cNvPr>
          <p:cNvPicPr>
            <a:picLocks noChangeAspect="1"/>
          </p:cNvPicPr>
          <p:nvPr/>
        </p:nvPicPr>
        <p:blipFill>
          <a:blip r:embed="rId2"/>
          <a:stretch>
            <a:fillRect/>
          </a:stretch>
        </p:blipFill>
        <p:spPr>
          <a:xfrm>
            <a:off x="902335" y="4597400"/>
            <a:ext cx="6170930" cy="1435100"/>
          </a:xfrm>
          <a:prstGeom prst="rect">
            <a:avLst/>
          </a:prstGeom>
        </p:spPr>
      </p:pic>
      <p:sp>
        <p:nvSpPr>
          <p:cNvPr id="7" name="Shape 3"/>
          <p:cNvSpPr/>
          <p:nvPr/>
        </p:nvSpPr>
        <p:spPr>
          <a:xfrm>
            <a:off x="815975" y="4594225"/>
            <a:ext cx="6343650" cy="1441450"/>
          </a:xfrm>
          <a:prstGeom prst="roundRect">
            <a:avLst>
              <a:gd name="adj" fmla="val 5066"/>
            </a:avLst>
          </a:prstGeom>
          <a:noFill/>
          <a:ln w="6350">
            <a:solidFill>
              <a:srgbClr val="DDDFDB"/>
            </a:solidFill>
            <a:prstDash val="solid"/>
          </a:ln>
        </p:spPr>
      </p:sp>
      <p:sp>
        <p:nvSpPr>
          <p:cNvPr id="8" name="Text 4"/>
          <p:cNvSpPr/>
          <p:nvPr/>
        </p:nvSpPr>
        <p:spPr>
          <a:xfrm>
            <a:off x="7569200" y="1990092"/>
            <a:ext cx="3924300"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2F5D8A"/>
                </a:solidFill>
                <a:latin typeface="Be Vietnam Pro" pitchFamily="34" charset="0"/>
                <a:ea typeface="Be Vietnam Pro" pitchFamily="34" charset="-122"/>
                <a:cs typeface="Be Vietnam Pro" pitchFamily="34" charset="-120"/>
              </a:rPr>
              <a:t>~23 s</a:t>
            </a:r>
            <a:endParaRPr lang="en-US" sz="3600" dirty="0"/>
          </a:p>
        </p:txBody>
      </p:sp>
      <p:sp>
        <p:nvSpPr>
          <p:cNvPr id="9" name="Text 5"/>
          <p:cNvSpPr/>
          <p:nvPr/>
        </p:nvSpPr>
        <p:spPr>
          <a:xfrm>
            <a:off x="7569200" y="2655571"/>
            <a:ext cx="3924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7606A"/>
                </a:solidFill>
                <a:latin typeface="Be Vietnam Pro" pitchFamily="34" charset="0"/>
                <a:ea typeface="Be Vietnam Pro" pitchFamily="34" charset="-122"/>
                <a:cs typeface="Be Vietnam Pro" pitchFamily="34" charset="-120"/>
              </a:rPr>
              <a:t>từ commit tới ArgoCD đồng bộ</a:t>
            </a:r>
            <a:endParaRPr lang="en-US" sz="1400" dirty="0"/>
          </a:p>
        </p:txBody>
      </p:sp>
      <p:sp>
        <p:nvSpPr>
          <p:cNvPr id="10" name="Text 6"/>
          <p:cNvSpPr/>
          <p:nvPr/>
        </p:nvSpPr>
        <p:spPr>
          <a:xfrm>
            <a:off x="7569200" y="3158492"/>
            <a:ext cx="3924300"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2F5D8A"/>
                </a:solidFill>
                <a:latin typeface="Be Vietnam Pro" pitchFamily="34" charset="0"/>
                <a:ea typeface="Be Vietnam Pro" pitchFamily="34" charset="-122"/>
                <a:cs typeface="Be Vietnam Pro" pitchFamily="34" charset="-120"/>
              </a:rPr>
              <a:t>~17 s</a:t>
            </a:r>
            <a:endParaRPr lang="en-US" sz="3600" dirty="0"/>
          </a:p>
        </p:txBody>
      </p:sp>
      <p:sp>
        <p:nvSpPr>
          <p:cNvPr id="11" name="Text 7"/>
          <p:cNvSpPr/>
          <p:nvPr/>
        </p:nvSpPr>
        <p:spPr>
          <a:xfrm>
            <a:off x="7569200" y="3823971"/>
            <a:ext cx="3924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7606A"/>
                </a:solidFill>
                <a:latin typeface="Be Vietnam Pro" pitchFamily="34" charset="0"/>
                <a:ea typeface="Be Vietnam Pro" pitchFamily="34" charset="-122"/>
                <a:cs typeface="Be Vietnam Pro" pitchFamily="34" charset="-120"/>
              </a:rPr>
              <a:t>thêm để pod mới Ready</a:t>
            </a:r>
            <a:endParaRPr lang="en-US" sz="1400" dirty="0"/>
          </a:p>
        </p:txBody>
      </p:sp>
      <p:sp>
        <p:nvSpPr>
          <p:cNvPr id="12" name="Text 8"/>
          <p:cNvSpPr/>
          <p:nvPr/>
        </p:nvSpPr>
        <p:spPr>
          <a:xfrm>
            <a:off x="7569200" y="4326892"/>
            <a:ext cx="3924300"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2F5D8A"/>
                </a:solidFill>
                <a:latin typeface="Be Vietnam Pro" pitchFamily="34" charset="0"/>
                <a:ea typeface="Be Vietnam Pro" pitchFamily="34" charset="-122"/>
                <a:cs typeface="Be Vietnam Pro" pitchFamily="34" charset="-120"/>
              </a:rPr>
              <a:t>0,0</a:t>
            </a:r>
            <a:endParaRPr lang="en-US" sz="3600" dirty="0"/>
          </a:p>
        </p:txBody>
      </p:sp>
      <p:sp>
        <p:nvSpPr>
          <p:cNvPr id="13" name="Text 9"/>
          <p:cNvSpPr/>
          <p:nvPr/>
        </p:nvSpPr>
        <p:spPr>
          <a:xfrm>
            <a:off x="7569200" y="4992371"/>
            <a:ext cx="392430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7606A"/>
                </a:solidFill>
                <a:latin typeface="Be Vietnam Pro" pitchFamily="34" charset="0"/>
                <a:ea typeface="Be Vietnam Pro" pitchFamily="34" charset="-122"/>
                <a:cs typeface="Be Vietnam Pro" pitchFamily="34" charset="-120"/>
              </a:rPr>
              <a:t>lệch điểm giữa endpoint và model MLflow (PASS)</a:t>
            </a:r>
            <a:endParaRPr lang="en-US" sz="1400" dirty="0"/>
          </a:p>
        </p:txBody>
      </p:sp>
      <p:sp>
        <p:nvSpPr>
          <p:cNvPr id="14" name="Text 1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Dự đoán batch nạp model trực tiếp từ MLflow; KServe phục vụ gọi lẻ</a:t>
            </a:r>
            <a:endParaRPr lang="en-US" sz="1200" dirty="0"/>
          </a:p>
        </p:txBody>
      </p:sp>
      <p:sp>
        <p:nvSpPr>
          <p:cNvPr id="15" name="Text 1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VDT</a:t>
            </a:r>
            <a:endParaRPr lang="en-US" sz="1200" dirty="0"/>
          </a:p>
        </p:txBody>
      </p:sp>
      <p:sp>
        <p:nvSpPr>
          <p:cNvPr id="3" name="Text 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15</a:t>
            </a:r>
            <a:endParaRPr lang="en-US" sz="1200" dirty="0"/>
          </a:p>
        </p:txBody>
      </p:sp>
      <p:sp>
        <p:nvSpPr>
          <p:cNvPr id="4" name="Text 2"/>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8A"/>
                </a:solidFill>
                <a:latin typeface="Be Vietnam Pro" pitchFamily="34" charset="0"/>
                <a:ea typeface="Be Vietnam Pro" pitchFamily="34" charset="-122"/>
                <a:cs typeface="Be Vietnam Pro" pitchFamily="34" charset="-120"/>
              </a:rPr>
              <a:t>Luồng 5/5</a:t>
            </a:r>
            <a:endParaRPr lang="en-US" sz="1200" dirty="0"/>
          </a:p>
        </p:txBody>
      </p:sp>
      <p:sp>
        <p:nvSpPr>
          <p:cNvPr id="5" name="Text 3"/>
          <p:cNvSpPr/>
          <p:nvPr>
            <p:ph type="title"/>
          </p:nvPr>
        </p:nvSpPr>
        <p:spPr>
          <a:xfrm>
            <a:off x="812800" y="8737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28"/>
                </a:solidFill>
                <a:latin typeface="Be Vietnam Pro" pitchFamily="34" charset="0"/>
                <a:ea typeface="Be Vietnam Pro" pitchFamily="34" charset="-122"/>
                <a:cs typeface="Be Vietnam Pro" pitchFamily="34" charset="-120"/>
              </a:rPr>
              <a:t>Đánh giá hiệu quả thực tế</a:t>
            </a:r>
            <a:endParaRPr lang="en-US" sz="2800" dirty="0"/>
          </a:p>
        </p:txBody>
      </p:sp>
      <p:pic>
        <p:nvPicPr>
          <p:cNvPr id="6" name="Image 0" descr="DAG loan_propensity_evaluate: đọc điểm, đọc nhãn thật, ghép, tính ROC-AUC, so với lúc huấn luyện, ghi bảng eval">    </p:cNvPr>
          <p:cNvPicPr>
            <a:picLocks noChangeAspect="1"/>
          </p:cNvPicPr>
          <p:nvPr/>
        </p:nvPicPr>
        <p:blipFill>
          <a:blip r:embed="rId1"/>
          <a:stretch>
            <a:fillRect/>
          </a:stretch>
        </p:blipFill>
        <p:spPr>
          <a:xfrm>
            <a:off x="1351434" y="1400336"/>
            <a:ext cx="4608998" cy="5309711"/>
          </a:xfrm>
          <a:prstGeom prst="rect">
            <a:avLst/>
          </a:prstGeom>
        </p:spPr>
      </p:pic>
      <p:sp>
        <p:nvSpPr>
          <p:cNvPr id="7" name="Shape 4"/>
          <p:cNvSpPr/>
          <p:nvPr/>
        </p:nvSpPr>
        <p:spPr>
          <a:xfrm>
            <a:off x="296466" y="1397161"/>
            <a:ext cx="6718935" cy="5316061"/>
          </a:xfrm>
          <a:prstGeom prst="roundRect">
            <a:avLst>
              <a:gd name="adj" fmla="val 1374"/>
            </a:avLst>
          </a:prstGeom>
          <a:noFill/>
          <a:ln w="6350">
            <a:solidFill>
              <a:srgbClr val="DDDFDB"/>
            </a:solidFill>
            <a:prstDash val="solid"/>
          </a:ln>
        </p:spPr>
      </p:sp>
      <p:sp>
        <p:nvSpPr>
          <p:cNvPr id="8" name="Text 5"/>
          <p:cNvSpPr/>
          <p:nvPr/>
        </p:nvSpPr>
        <p:spPr>
          <a:xfrm>
            <a:off x="6725285" y="2477455"/>
            <a:ext cx="637698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328"/>
                </a:solidFill>
                <a:latin typeface="Be Vietnam Pro" pitchFamily="34" charset="0"/>
                <a:ea typeface="Be Vietnam Pro" pitchFamily="34" charset="-122"/>
                <a:cs typeface="Be Vietnam Pro" pitchFamily="34" charset="-120"/>
              </a:rPr>
              <a:t>Ghép điểm với nhãn thật khi nhãn đã “chín” (30 ngày). </a:t>
            </a:r>
            <a:endParaRPr lang="en-US" sz="1500" dirty="0"/>
          </a:p>
          <a:p>
            <a:pPr algn="l" indent="0" marL="0">
              <a:lnSpc>
                <a:spcPts val="2025"/>
              </a:lnSpc>
              <a:buNone/>
            </a:pPr>
            <a:r>
              <a:rPr lang="en-US" sz="1500" dirty="0">
                <a:solidFill>
                  <a:srgbClr val="1F2328"/>
                </a:solidFill>
                <a:latin typeface="Be Vietnam Pro" pitchFamily="34" charset="0"/>
                <a:ea typeface="Be Vietnam Pro" pitchFamily="34" charset="-122"/>
                <a:cs typeface="Be Vietnam Pro" pitchFamily="34" charset="-120"/>
              </a:rPr>
              <a:t>Cửa sổ 25–31/12/2025: </a:t>
            </a:r>
            <a:r>
              <a:rPr lang="en-US" sz="1500" b="1" dirty="0">
                <a:solidFill>
                  <a:srgbClr val="1F2328"/>
                </a:solidFill>
                <a:latin typeface="Be Vietnam Pro" pitchFamily="34" charset="0"/>
                <a:ea typeface="Be Vietnam Pro" pitchFamily="34" charset="-122"/>
                <a:cs typeface="Be Vietnam Pro" pitchFamily="34" charset="-120"/>
              </a:rPr>
              <a:t>33.117 dòng</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735445" y="3179765"/>
          <a:ext cx="5260657" cy="1534160"/>
        </p:xfrm>
        <a:graphic>
          <a:graphicData uri="http://schemas.openxmlformats.org/drawingml/2006/table">
            <a:tbl>
              <a:tblPr/>
              <a:tblGrid>
                <a:gridCol w="1315164"/>
                <a:gridCol w="1315164"/>
                <a:gridCol w="1315164"/>
                <a:gridCol w="1315164"/>
              </a:tblGrid>
              <a:tr h="383540">
                <a:tc>
                  <a:txBody>
                    <a:bodyPr/>
                    <a:lstStyle/>
                    <a:p>
                      <a:pPr indent="0" marL="0">
                        <a:lnSpc>
                          <a:spcPts val="1960"/>
                        </a:lnSpc>
                        <a:buNone/>
                      </a:pPr>
                      <a:r>
                        <a:rPr lang="en-US" sz="1400" b="1" dirty="0">
                          <a:solidFill>
                            <a:srgbClr val="1F2328"/>
                          </a:solidFill>
                          <a:latin typeface="Be Vietnam Pro" pitchFamily="34" charset="0"/>
                          <a:ea typeface="Be Vietnam Pro" pitchFamily="34" charset="-122"/>
                          <a:cs typeface="Be Vietnam Pro" pitchFamily="34" charset="-120"/>
                        </a:rPr>
                        <a:t>Segment</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B9B9B8"/>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B9B9B8"/>
                      </a:solidFill>
                      <a:prstDash val="solid"/>
                      <a:round/>
                      <a:headEnd type="none" w="med" len="med"/>
                      <a:tailEnd type="none" w="med" len="med"/>
                    </a:lnB>
                    <a:solidFill>
                      <a:srgbClr val="E8E8E6"/>
                    </a:solidFill>
                  </a:tcPr>
                </a:tc>
                <a:tc>
                  <a:txBody>
                    <a:bodyPr/>
                    <a:lstStyle/>
                    <a:p>
                      <a:pPr indent="0" marL="0">
                        <a:lnSpc>
                          <a:spcPts val="1960"/>
                        </a:lnSpc>
                        <a:buNone/>
                      </a:pPr>
                      <a:r>
                        <a:rPr lang="en-US" sz="1400" b="1" dirty="0">
                          <a:solidFill>
                            <a:srgbClr val="1F2328"/>
                          </a:solidFill>
                          <a:latin typeface="Be Vietnam Pro" pitchFamily="34" charset="0"/>
                          <a:ea typeface="Be Vietnam Pro" pitchFamily="34" charset="-122"/>
                          <a:cs typeface="Be Vietnam Pro" pitchFamily="34" charset="-120"/>
                        </a:rPr>
                        <a:t>AUC thực tế</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B9B9B8"/>
                      </a:solidFill>
                      <a:prstDash val="solid"/>
                      <a:round/>
                      <a:headEnd type="none" w="med" len="med"/>
                      <a:tailEnd type="none" w="med" len="med"/>
                    </a:lnL>
                    <a:lnR w="12700" cap="flat" cmpd="sng" algn="ctr">
                      <a:solidFill>
                        <a:srgbClr val="B9B9B8"/>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B9B9B8"/>
                      </a:solidFill>
                      <a:prstDash val="solid"/>
                      <a:round/>
                      <a:headEnd type="none" w="med" len="med"/>
                      <a:tailEnd type="none" w="med" len="med"/>
                    </a:lnB>
                    <a:solidFill>
                      <a:srgbClr val="E8E8E6"/>
                    </a:solidFill>
                  </a:tcPr>
                </a:tc>
                <a:tc>
                  <a:txBody>
                    <a:bodyPr/>
                    <a:lstStyle/>
                    <a:p>
                      <a:pPr indent="0" marL="0">
                        <a:lnSpc>
                          <a:spcPts val="1960"/>
                        </a:lnSpc>
                        <a:buNone/>
                      </a:pPr>
                      <a:r>
                        <a:rPr lang="en-US" sz="1400" b="1" dirty="0">
                          <a:solidFill>
                            <a:srgbClr val="1F2328"/>
                          </a:solidFill>
                          <a:latin typeface="Be Vietnam Pro" pitchFamily="34" charset="0"/>
                          <a:ea typeface="Be Vietnam Pro" pitchFamily="34" charset="-122"/>
                          <a:cs typeface="Be Vietnam Pro" pitchFamily="34" charset="-120"/>
                        </a:rPr>
                        <a:t>AUC test</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B9B9B8"/>
                      </a:solidFill>
                      <a:prstDash val="solid"/>
                      <a:round/>
                      <a:headEnd type="none" w="med" len="med"/>
                      <a:tailEnd type="none" w="med" len="med"/>
                    </a:lnL>
                    <a:lnR w="12700" cap="flat" cmpd="sng" algn="ctr">
                      <a:solidFill>
                        <a:srgbClr val="B9B9B8"/>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B9B9B8"/>
                      </a:solidFill>
                      <a:prstDash val="solid"/>
                      <a:round/>
                      <a:headEnd type="none" w="med" len="med"/>
                      <a:tailEnd type="none" w="med" len="med"/>
                    </a:lnB>
                    <a:solidFill>
                      <a:srgbClr val="E8E8E6"/>
                    </a:solidFill>
                  </a:tcPr>
                </a:tc>
                <a:tc>
                  <a:txBody>
                    <a:bodyPr/>
                    <a:lstStyle/>
                    <a:p>
                      <a:pPr indent="0" marL="0">
                        <a:lnSpc>
                          <a:spcPts val="1960"/>
                        </a:lnSpc>
                        <a:buNone/>
                      </a:pPr>
                      <a:r>
                        <a:rPr lang="en-US" sz="1400" b="1" dirty="0">
                          <a:solidFill>
                            <a:srgbClr val="1F2328"/>
                          </a:solidFill>
                          <a:latin typeface="Be Vietnam Pro" pitchFamily="34" charset="0"/>
                          <a:ea typeface="Be Vietnam Pro" pitchFamily="34" charset="-122"/>
                          <a:cs typeface="Be Vietnam Pro" pitchFamily="34" charset="-120"/>
                        </a:rPr>
                        <a:t>Mức</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B9B9B8"/>
                      </a:solidFill>
                      <a:prstDash val="solid"/>
                      <a:round/>
                      <a:headEnd type="none" w="med" len="med"/>
                      <a:tailEnd type="none" w="med" len="med"/>
                    </a:lnL>
                    <a:lnR w="12700" cap="flat" cmpd="sng" algn="ctr">
                      <a:solidFill>
                        <a:srgbClr val="B9B9B8"/>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B9B9B8"/>
                      </a:solidFill>
                      <a:prstDash val="solid"/>
                      <a:round/>
                      <a:headEnd type="none" w="med" len="med"/>
                      <a:tailEnd type="none" w="med" len="med"/>
                    </a:lnB>
                    <a:solidFill>
                      <a:srgbClr val="E8E8E6"/>
                    </a:solidFill>
                  </a:tcPr>
                </a:tc>
              </a:tr>
              <a:tr h="383540">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au</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B9B9B8"/>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0,850</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B9B9B8"/>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0,829</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B9B9B8"/>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OK</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B9B9B8"/>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r>
              <a:tr h="383540">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lu</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0,848</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0,817</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OK</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r>
              <a:tr h="383540">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nu</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0,908</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0,889</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960"/>
                        </a:lnSpc>
                        <a:buNone/>
                      </a:pPr>
                      <a:r>
                        <a:rPr lang="en-US" sz="1400" dirty="0">
                          <a:solidFill>
                            <a:srgbClr val="1F2328"/>
                          </a:solidFill>
                          <a:latin typeface="Be Vietnam Pro" pitchFamily="34" charset="0"/>
                          <a:ea typeface="Be Vietnam Pro" pitchFamily="34" charset="-122"/>
                          <a:cs typeface="Be Vietnam Pro" pitchFamily="34" charset="-120"/>
                        </a:rPr>
                        <a:t>OK</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r>
            </a:tbl>
          </a:graphicData>
        </a:graphic>
      </p:graphicFrame>
      <p:sp>
        <p:nvSpPr>
          <p:cNvPr id="10" name="Text 6"/>
          <p:cNvSpPr/>
          <p:nvPr/>
        </p:nvSpPr>
        <p:spPr>
          <a:xfrm>
            <a:off x="6725285" y="4890455"/>
            <a:ext cx="637698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328"/>
                </a:solidFill>
                <a:latin typeface="Be Vietnam Pro" pitchFamily="34" charset="0"/>
                <a:ea typeface="Be Vietnam Pro" pitchFamily="34" charset="-122"/>
                <a:cs typeface="Be Vietnam Pro" pitchFamily="34" charset="-120"/>
              </a:rPr>
              <a:t>AUC tụt &gt; 0,05: </a:t>
            </a:r>
            <a:r>
              <a:rPr lang="en-US" sz="1500" b="1" dirty="0">
                <a:solidFill>
                  <a:srgbClr val="1F2328"/>
                </a:solidFill>
                <a:latin typeface="Be Vietnam Pro" pitchFamily="34" charset="0"/>
                <a:ea typeface="Be Vietnam Pro" pitchFamily="34" charset="-122"/>
                <a:cs typeface="Be Vietnam Pro" pitchFamily="34" charset="-120"/>
              </a:rPr>
              <a:t>WARN</a:t>
            </a:r>
            <a:r>
              <a:rPr lang="en-US" sz="1500" dirty="0">
                <a:solidFill>
                  <a:srgbClr val="1F2328"/>
                </a:solidFill>
                <a:latin typeface="Be Vietnam Pro" pitchFamily="34" charset="0"/>
                <a:ea typeface="Be Vietnam Pro" pitchFamily="34" charset="-122"/>
                <a:cs typeface="Be Vietnam Pro" pitchFamily="34" charset="-120"/>
              </a:rPr>
              <a:t> · tụt &gt; 0,10: </a:t>
            </a:r>
            <a:r>
              <a:rPr lang="en-US" sz="1500" b="1" dirty="0">
                <a:solidFill>
                  <a:srgbClr val="1F2328"/>
                </a:solidFill>
                <a:latin typeface="Be Vietnam Pro" pitchFamily="34" charset="0"/>
                <a:ea typeface="Be Vietnam Pro" pitchFamily="34" charset="-122"/>
                <a:cs typeface="Be Vietnam Pro" pitchFamily="34" charset="-120"/>
              </a:rPr>
              <a:t>RETRAIN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8A"/>
                </a:solidFill>
                <a:latin typeface="Be Vietnam Pro" pitchFamily="34" charset="0"/>
                <a:ea typeface="Be Vietnam Pro" pitchFamily="34" charset="-122"/>
                <a:cs typeface="Be Vietnam Pro" pitchFamily="34" charset="-120"/>
              </a:rPr>
              <a:t>Luồng 5/5</a:t>
            </a:r>
            <a:endParaRPr lang="en-US" sz="1200" dirty="0"/>
          </a:p>
        </p:txBody>
      </p:sp>
      <p:sp>
        <p:nvSpPr>
          <p:cNvPr id="3" name="Text 1"/>
          <p:cNvSpPr/>
          <p:nvPr>
            <p:ph type="title"/>
          </p:nvPr>
        </p:nvSpPr>
        <p:spPr>
          <a:xfrm>
            <a:off x="812800" y="8737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28"/>
                </a:solidFill>
                <a:latin typeface="Be Vietnam Pro" pitchFamily="34" charset="0"/>
                <a:ea typeface="Be Vietnam Pro" pitchFamily="34" charset="-122"/>
                <a:cs typeface="Be Vietnam Pro" pitchFamily="34" charset="-120"/>
              </a:rPr>
              <a:t>Vòng huấn luyện lại</a:t>
            </a:r>
            <a:endParaRPr lang="en-US" sz="2800" dirty="0"/>
          </a:p>
        </p:txBody>
      </p:sp>
      <p:pic>
        <p:nvPicPr>
          <p:cNvPr id="4" name="Image 0" descr="Ba tín hiệu: lịch tuần, drift critical, hiệu quả thực tế tụt, cùng dẫn tới DAG huấn luyện, cổng champion, người duyệt, triển khai">    </p:cNvPr>
          <p:cNvPicPr>
            <a:picLocks noChangeAspect="1"/>
          </p:cNvPicPr>
          <p:nvPr/>
        </p:nvPicPr>
        <p:blipFill>
          <a:blip r:embed="rId1"/>
          <a:srcRect l="0" r="0" t="-884" b="-884"/>
          <a:stretch/>
        </p:blipFill>
        <p:spPr>
          <a:xfrm>
            <a:off x="812800" y="1587500"/>
            <a:ext cx="10566400" cy="2286000"/>
          </a:xfrm>
          <a:prstGeom prst="rect">
            <a:avLst/>
          </a:prstGeom>
        </p:spPr>
      </p:pic>
      <p:sp>
        <p:nvSpPr>
          <p:cNvPr id="5" name="Shape 2"/>
          <p:cNvSpPr/>
          <p:nvPr/>
        </p:nvSpPr>
        <p:spPr>
          <a:xfrm>
            <a:off x="812800" y="4191000"/>
            <a:ext cx="3386614" cy="0"/>
          </a:xfrm>
          <a:prstGeom prst="line">
            <a:avLst/>
          </a:prstGeom>
          <a:noFill/>
          <a:ln w="25400">
            <a:solidFill>
              <a:srgbClr val="2F5D8A"/>
            </a:solidFill>
            <a:prstDash val="solid"/>
          </a:ln>
        </p:spPr>
      </p:sp>
      <p:sp>
        <p:nvSpPr>
          <p:cNvPr id="6" name="Text 3"/>
          <p:cNvSpPr/>
          <p:nvPr/>
        </p:nvSpPr>
        <p:spPr>
          <a:xfrm>
            <a:off x="812800" y="4356100"/>
            <a:ext cx="348821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328"/>
                </a:solidFill>
                <a:latin typeface="Be Vietnam Pro" pitchFamily="34" charset="0"/>
                <a:ea typeface="Be Vietnam Pro" pitchFamily="34" charset="-122"/>
                <a:cs typeface="Be Vietnam Pro" pitchFamily="34" charset="-120"/>
              </a:rPr>
              <a:t>Lịch tuần</a:t>
            </a:r>
            <a:endParaRPr lang="en-US" sz="1800" dirty="0"/>
          </a:p>
        </p:txBody>
      </p:sp>
      <p:sp>
        <p:nvSpPr>
          <p:cNvPr id="7" name="Text 4"/>
          <p:cNvSpPr/>
          <p:nvPr/>
        </p:nvSpPr>
        <p:spPr>
          <a:xfrm>
            <a:off x="812800" y="4681227"/>
            <a:ext cx="348821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7606A"/>
                </a:solidFill>
                <a:latin typeface="Be Vietnam Pro" pitchFamily="34" charset="0"/>
                <a:ea typeface="Be Vietnam Pro" pitchFamily="34" charset="-122"/>
                <a:cs typeface="Be Vietnam Pro" pitchFamily="34" charset="-120"/>
              </a:rPr>
              <a:t>Airflow @weekly, tự chạy</a:t>
            </a:r>
            <a:endParaRPr lang="en-US" sz="1400" dirty="0"/>
          </a:p>
        </p:txBody>
      </p:sp>
      <p:sp>
        <p:nvSpPr>
          <p:cNvPr id="8" name="Shape 5"/>
          <p:cNvSpPr/>
          <p:nvPr/>
        </p:nvSpPr>
        <p:spPr>
          <a:xfrm>
            <a:off x="4402614" y="4191000"/>
            <a:ext cx="3386693" cy="0"/>
          </a:xfrm>
          <a:prstGeom prst="line">
            <a:avLst/>
          </a:prstGeom>
          <a:noFill/>
          <a:ln w="25400">
            <a:solidFill>
              <a:srgbClr val="2F5D8A"/>
            </a:solidFill>
            <a:prstDash val="solid"/>
          </a:ln>
        </p:spPr>
      </p:sp>
      <p:sp>
        <p:nvSpPr>
          <p:cNvPr id="9" name="Text 6"/>
          <p:cNvSpPr/>
          <p:nvPr/>
        </p:nvSpPr>
        <p:spPr>
          <a:xfrm>
            <a:off x="4402614" y="4356100"/>
            <a:ext cx="348829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328"/>
                </a:solidFill>
                <a:latin typeface="Be Vietnam Pro" pitchFamily="34" charset="0"/>
                <a:ea typeface="Be Vietnam Pro" pitchFamily="34" charset="-122"/>
                <a:cs typeface="Be Vietnam Pro" pitchFamily="34" charset="-120"/>
              </a:rPr>
              <a:t>Drift critical</a:t>
            </a:r>
            <a:endParaRPr lang="en-US" sz="1800" dirty="0"/>
          </a:p>
        </p:txBody>
      </p:sp>
      <p:sp>
        <p:nvSpPr>
          <p:cNvPr id="10" name="Text 7"/>
          <p:cNvSpPr/>
          <p:nvPr/>
        </p:nvSpPr>
        <p:spPr>
          <a:xfrm>
            <a:off x="4402614" y="4681227"/>
            <a:ext cx="348829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7606A"/>
                </a:solidFill>
                <a:latin typeface="Be Vietnam Pro" pitchFamily="34" charset="0"/>
                <a:ea typeface="Be Vietnam Pro" pitchFamily="34" charset="-122"/>
                <a:cs typeface="Be Vietnam Pro" pitchFamily="34" charset="-120"/>
              </a:rPr>
              <a:t>Tự gọi khi có nhãn mới và hết cooldown 7 ngày</a:t>
            </a:r>
            <a:endParaRPr lang="en-US" sz="1400" dirty="0"/>
          </a:p>
        </p:txBody>
      </p:sp>
      <p:sp>
        <p:nvSpPr>
          <p:cNvPr id="11" name="Shape 8"/>
          <p:cNvSpPr/>
          <p:nvPr/>
        </p:nvSpPr>
        <p:spPr>
          <a:xfrm>
            <a:off x="7992507" y="4191000"/>
            <a:ext cx="3386693" cy="0"/>
          </a:xfrm>
          <a:prstGeom prst="line">
            <a:avLst/>
          </a:prstGeom>
          <a:noFill/>
          <a:ln w="25400">
            <a:solidFill>
              <a:srgbClr val="2F5D8A"/>
            </a:solidFill>
            <a:prstDash val="solid"/>
          </a:ln>
        </p:spPr>
      </p:sp>
      <p:sp>
        <p:nvSpPr>
          <p:cNvPr id="12" name="Text 9"/>
          <p:cNvSpPr/>
          <p:nvPr/>
        </p:nvSpPr>
        <p:spPr>
          <a:xfrm>
            <a:off x="7992507" y="4356100"/>
            <a:ext cx="348829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328"/>
                </a:solidFill>
                <a:latin typeface="Be Vietnam Pro" pitchFamily="34" charset="0"/>
                <a:ea typeface="Be Vietnam Pro" pitchFamily="34" charset="-122"/>
                <a:cs typeface="Be Vietnam Pro" pitchFamily="34" charset="-120"/>
              </a:rPr>
              <a:t>AUC thực tế tụt</a:t>
            </a:r>
            <a:endParaRPr lang="en-US" sz="1800" dirty="0"/>
          </a:p>
        </p:txBody>
      </p:sp>
      <p:sp>
        <p:nvSpPr>
          <p:cNvPr id="13" name="Text 10"/>
          <p:cNvSpPr/>
          <p:nvPr/>
        </p:nvSpPr>
        <p:spPr>
          <a:xfrm>
            <a:off x="7992507" y="4681227"/>
            <a:ext cx="348829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7606A"/>
                </a:solidFill>
                <a:latin typeface="Be Vietnam Pro" pitchFamily="34" charset="0"/>
                <a:ea typeface="Be Vietnam Pro" pitchFamily="34" charset="-122"/>
                <a:cs typeface="Be Vietnam Pro" pitchFamily="34" charset="-120"/>
              </a:rPr>
              <a:t>WARN kéo dài hoặc RETRAIN: người vận hành chạy tay</a:t>
            </a:r>
            <a:endParaRPr lang="en-US" sz="1400" dirty="0"/>
          </a:p>
        </p:txBody>
      </p:sp>
      <p:sp>
        <p:nvSpPr>
          <p:cNvPr id="14" name="Text 11"/>
          <p:cNvSpPr/>
          <p:nvPr/>
        </p:nvSpPr>
        <p:spPr>
          <a:xfrm>
            <a:off x="812800" y="5483858"/>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328"/>
                </a:solidFill>
                <a:latin typeface="Be Vietnam Pro" pitchFamily="34" charset="0"/>
                <a:ea typeface="Be Vietnam Pro" pitchFamily="34" charset="-122"/>
                <a:cs typeface="Be Vietnam Pro" pitchFamily="34" charset="-120"/>
              </a:rPr>
              <a:t>Mọi đường đều qua </a:t>
            </a:r>
            <a:r>
              <a:rPr lang="en-US" sz="1600" b="1" dirty="0">
                <a:solidFill>
                  <a:srgbClr val="1F2328"/>
                </a:solidFill>
                <a:latin typeface="Be Vietnam Pro" pitchFamily="34" charset="0"/>
                <a:ea typeface="Be Vietnam Pro" pitchFamily="34" charset="-122"/>
                <a:cs typeface="Be Vietnam Pro" pitchFamily="34" charset="-120"/>
              </a:rPr>
              <a:t>cổng champion</a:t>
            </a:r>
            <a:r>
              <a:rPr lang="en-US" sz="1600" dirty="0">
                <a:solidFill>
                  <a:srgbClr val="1F2328"/>
                </a:solidFill>
                <a:latin typeface="Be Vietnam Pro" pitchFamily="34" charset="0"/>
                <a:ea typeface="Be Vietnam Pro" pitchFamily="34" charset="-122"/>
                <a:cs typeface="Be Vietnam Pro" pitchFamily="34" charset="-120"/>
              </a:rPr>
              <a:t> và </a:t>
            </a:r>
            <a:r>
              <a:rPr lang="en-US" sz="1600" b="1" dirty="0">
                <a:solidFill>
                  <a:srgbClr val="1F2328"/>
                </a:solidFill>
                <a:latin typeface="Be Vietnam Pro" pitchFamily="34" charset="0"/>
                <a:ea typeface="Be Vietnam Pro" pitchFamily="34" charset="-122"/>
                <a:cs typeface="Be Vietnam Pro" pitchFamily="34" charset="-120"/>
              </a:rPr>
              <a:t>người duyệt</a:t>
            </a:r>
            <a:r>
              <a:rPr lang="en-US" sz="1600" dirty="0">
                <a:solidFill>
                  <a:srgbClr val="1F2328"/>
                </a:solidFill>
                <a:latin typeface="Be Vietnam Pro" pitchFamily="34" charset="0"/>
                <a:ea typeface="Be Vietnam Pro" pitchFamily="34" charset="-122"/>
                <a:cs typeface="Be Vietnam Pro" pitchFamily="34" charset="-120"/>
              </a:rPr>
              <a:t> mới lên production.</a:t>
            </a:r>
            <a:endParaRPr lang="en-US" sz="1600" dirty="0"/>
          </a:p>
        </p:txBody>
      </p:sp>
      <p:sp>
        <p:nvSpPr>
          <p:cNvPr id="15" name="Text 1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VDT</a:t>
            </a:r>
            <a:endParaRPr lang="en-US" sz="1200" dirty="0"/>
          </a:p>
        </p:txBody>
      </p:sp>
      <p:sp>
        <p:nvSpPr>
          <p:cNvPr id="16" name="Text 1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8A"/>
                </a:solidFill>
                <a:latin typeface="Be Vietnam Pro" pitchFamily="34" charset="0"/>
                <a:ea typeface="Be Vietnam Pro" pitchFamily="34" charset="-122"/>
                <a:cs typeface="Be Vietnam Pro" pitchFamily="34" charset="-120"/>
              </a:rPr>
              <a:t>Kết luận</a:t>
            </a:r>
            <a:endParaRPr lang="en-US" sz="1200" dirty="0"/>
          </a:p>
        </p:txBody>
      </p:sp>
      <p:sp>
        <p:nvSpPr>
          <p:cNvPr id="3" name="Text 1"/>
          <p:cNvSpPr/>
          <p:nvPr>
            <p:ph type="title"/>
          </p:nvPr>
        </p:nvSpPr>
        <p:spPr>
          <a:xfrm>
            <a:off x="812800" y="8737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28"/>
                </a:solidFill>
                <a:latin typeface="Be Vietnam Pro" pitchFamily="34" charset="0"/>
                <a:ea typeface="Be Vietnam Pro" pitchFamily="34" charset="-122"/>
                <a:cs typeface="Be Vietnam Pro" pitchFamily="34" charset="-120"/>
              </a:rPr>
              <a:t>Tổng kết</a:t>
            </a:r>
            <a:endParaRPr lang="en-US" sz="2800" dirty="0"/>
          </a:p>
        </p:txBody>
      </p:sp>
      <p:sp>
        <p:nvSpPr>
          <p:cNvPr id="4" name="Text 2"/>
          <p:cNvSpPr/>
          <p:nvPr/>
        </p:nvSpPr>
        <p:spPr>
          <a:xfrm>
            <a:off x="812800" y="1689100"/>
            <a:ext cx="9810750" cy="751840"/>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1F2328"/>
                </a:solidFill>
                <a:latin typeface="Be Vietnam Pro" pitchFamily="34" charset="0"/>
                <a:ea typeface="Be Vietnam Pro" pitchFamily="34" charset="-122"/>
                <a:cs typeface="Be Vietnam Pro" pitchFamily="34" charset="-120"/>
              </a:rPr>
              <a:t>Một nền tảng MLOps chạy trọn vòng đời cho 3 bài toán, 6 model: từ dữ liệu đến dự đoán, giám sát và huấn luyện lại.</a:t>
            </a:r>
            <a:endParaRPr lang="en-US" sz="2200" dirty="0"/>
          </a:p>
        </p:txBody>
      </p:sp>
      <p:sp>
        <p:nvSpPr>
          <p:cNvPr id="5" name="Shape 3"/>
          <p:cNvSpPr/>
          <p:nvPr/>
        </p:nvSpPr>
        <p:spPr>
          <a:xfrm>
            <a:off x="812800" y="2834642"/>
            <a:ext cx="3318907" cy="0"/>
          </a:xfrm>
          <a:prstGeom prst="line">
            <a:avLst/>
          </a:prstGeom>
          <a:noFill/>
          <a:ln w="25400">
            <a:solidFill>
              <a:srgbClr val="2F5D8A"/>
            </a:solidFill>
            <a:prstDash val="solid"/>
          </a:ln>
        </p:spPr>
      </p:sp>
      <p:sp>
        <p:nvSpPr>
          <p:cNvPr id="6" name="Text 4"/>
          <p:cNvSpPr/>
          <p:nvPr/>
        </p:nvSpPr>
        <p:spPr>
          <a:xfrm>
            <a:off x="812800" y="2999742"/>
            <a:ext cx="341847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2328"/>
                </a:solidFill>
                <a:latin typeface="Be Vietnam Pro" pitchFamily="34" charset="0"/>
                <a:ea typeface="Be Vietnam Pro" pitchFamily="34" charset="-122"/>
                <a:cs typeface="Be Vietnam Pro" pitchFamily="34" charset="-120"/>
              </a:rPr>
              <a:t>Tự động</a:t>
            </a:r>
            <a:endParaRPr lang="en-US" sz="2000" dirty="0"/>
          </a:p>
        </p:txBody>
      </p:sp>
      <p:sp>
        <p:nvSpPr>
          <p:cNvPr id="7" name="Text 5"/>
          <p:cNvSpPr/>
          <p:nvPr/>
        </p:nvSpPr>
        <p:spPr>
          <a:xfrm>
            <a:off x="812800" y="3380742"/>
            <a:ext cx="3418474"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7606A"/>
                </a:solidFill>
                <a:latin typeface="Be Vietnam Pro" pitchFamily="34" charset="0"/>
                <a:ea typeface="Be Vietnam Pro" pitchFamily="34" charset="-122"/>
                <a:cs typeface="Be Vietnam Pro" pitchFamily="34" charset="-120"/>
              </a:rPr>
              <a:t>5 luồng Airflow, ghi theo partition, chạy lại an toàn</a:t>
            </a:r>
            <a:endParaRPr lang="en-US" sz="1400" dirty="0"/>
          </a:p>
        </p:txBody>
      </p:sp>
      <p:sp>
        <p:nvSpPr>
          <p:cNvPr id="8" name="Shape 6"/>
          <p:cNvSpPr/>
          <p:nvPr/>
        </p:nvSpPr>
        <p:spPr>
          <a:xfrm>
            <a:off x="4436507" y="2834642"/>
            <a:ext cx="3318986" cy="0"/>
          </a:xfrm>
          <a:prstGeom prst="line">
            <a:avLst/>
          </a:prstGeom>
          <a:noFill/>
          <a:ln w="25400">
            <a:solidFill>
              <a:srgbClr val="2F5D8A"/>
            </a:solidFill>
            <a:prstDash val="solid"/>
          </a:ln>
        </p:spPr>
      </p:sp>
      <p:sp>
        <p:nvSpPr>
          <p:cNvPr id="9" name="Text 7"/>
          <p:cNvSpPr/>
          <p:nvPr/>
        </p:nvSpPr>
        <p:spPr>
          <a:xfrm>
            <a:off x="4436507" y="2999742"/>
            <a:ext cx="341855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2328"/>
                </a:solidFill>
                <a:latin typeface="Be Vietnam Pro" pitchFamily="34" charset="0"/>
                <a:ea typeface="Be Vietnam Pro" pitchFamily="34" charset="-122"/>
                <a:cs typeface="Be Vietnam Pro" pitchFamily="34" charset="-120"/>
              </a:rPr>
              <a:t>Có kiểm soát</a:t>
            </a:r>
            <a:endParaRPr lang="en-US" sz="2000" dirty="0"/>
          </a:p>
        </p:txBody>
      </p:sp>
      <p:sp>
        <p:nvSpPr>
          <p:cNvPr id="10" name="Text 8"/>
          <p:cNvSpPr/>
          <p:nvPr/>
        </p:nvSpPr>
        <p:spPr>
          <a:xfrm>
            <a:off x="4436507" y="3380742"/>
            <a:ext cx="341855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7606A"/>
                </a:solidFill>
                <a:latin typeface="Be Vietnam Pro" pitchFamily="34" charset="0"/>
                <a:ea typeface="Be Vietnam Pro" pitchFamily="34" charset="-122"/>
                <a:cs typeface="Be Vietnam Pro" pitchFamily="34" charset="-120"/>
              </a:rPr>
              <a:t>Model có phiên bản, qua cổng champion và người duyệt</a:t>
            </a:r>
            <a:endParaRPr lang="en-US" sz="1400" dirty="0"/>
          </a:p>
        </p:txBody>
      </p:sp>
      <p:sp>
        <p:nvSpPr>
          <p:cNvPr id="11" name="Shape 9"/>
          <p:cNvSpPr/>
          <p:nvPr/>
        </p:nvSpPr>
        <p:spPr>
          <a:xfrm>
            <a:off x="8060293" y="2834642"/>
            <a:ext cx="3318907" cy="0"/>
          </a:xfrm>
          <a:prstGeom prst="line">
            <a:avLst/>
          </a:prstGeom>
          <a:noFill/>
          <a:ln w="25400">
            <a:solidFill>
              <a:srgbClr val="2F5D8A"/>
            </a:solidFill>
            <a:prstDash val="solid"/>
          </a:ln>
        </p:spPr>
      </p:sp>
      <p:sp>
        <p:nvSpPr>
          <p:cNvPr id="12" name="Text 10"/>
          <p:cNvSpPr/>
          <p:nvPr/>
        </p:nvSpPr>
        <p:spPr>
          <a:xfrm>
            <a:off x="8060293" y="2999742"/>
            <a:ext cx="341847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2328"/>
                </a:solidFill>
                <a:latin typeface="Be Vietnam Pro" pitchFamily="34" charset="0"/>
                <a:ea typeface="Be Vietnam Pro" pitchFamily="34" charset="-122"/>
                <a:cs typeface="Be Vietnam Pro" pitchFamily="34" charset="-120"/>
              </a:rPr>
              <a:t>Có giám sát</a:t>
            </a:r>
            <a:endParaRPr lang="en-US" sz="2000" dirty="0"/>
          </a:p>
        </p:txBody>
      </p:sp>
      <p:sp>
        <p:nvSpPr>
          <p:cNvPr id="13" name="Text 11"/>
          <p:cNvSpPr/>
          <p:nvPr/>
        </p:nvSpPr>
        <p:spPr>
          <a:xfrm>
            <a:off x="8060293" y="3380742"/>
            <a:ext cx="3418474"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7606A"/>
                </a:solidFill>
                <a:latin typeface="Be Vietnam Pro" pitchFamily="34" charset="0"/>
                <a:ea typeface="Be Vietnam Pro" pitchFamily="34" charset="-122"/>
                <a:cs typeface="Be Vietnam Pro" pitchFamily="34" charset="-120"/>
              </a:rPr>
              <a:t>Kiểm soát Data drift, retrain khi đủ điều kiện</a:t>
            </a:r>
            <a:endParaRPr lang="en-US" sz="1400" dirty="0"/>
          </a:p>
        </p:txBody>
      </p:sp>
      <p:sp>
        <p:nvSpPr>
          <p:cNvPr id="14" name="Text 1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VDT</a:t>
            </a:r>
            <a:endParaRPr lang="en-US" sz="1200" dirty="0"/>
          </a:p>
        </p:txBody>
      </p:sp>
      <p:sp>
        <p:nvSpPr>
          <p:cNvPr id="15" name="Text 1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9"/>
                </a:solidFill>
                <a:latin typeface="Be Vietnam Pro" pitchFamily="34" charset="0"/>
                <a:ea typeface="Be Vietnam Pro" pitchFamily="34" charset="-122"/>
                <a:cs typeface="Be Vietnam Pro" pitchFamily="34" charset="-120"/>
              </a:rPr>
              <a:t>17</a:t>
            </a:r>
            <a:endParaRPr lang="en-US" sz="1200" dirty="0"/>
          </a:p>
        </p:txBody>
      </p:sp>
    </p:spTree>
  </p:cSld>
  <p:clrMapOvr>
    <a:masterClrMapping/>
  </p:clrMapOvr>
</p:sld>
</file>

<file path=ppt/theme/theme1.xml><?xml version="1.0" encoding="utf-8"?>
<a:theme xmlns:a="http://schemas.openxmlformats.org/drawingml/2006/main" name="MLOps cho bài toán margin">
  <a:themeElements>
    <a:clrScheme name="MLOps cho bài toán margin">
      <a:dk1>
        <a:srgbClr val="1F2328"/>
      </a:dk1>
      <a:lt1>
        <a:srgbClr val="FAFAF8"/>
      </a:lt1>
      <a:dk2>
        <a:srgbClr val="56595C"/>
      </a:dk2>
      <a:lt2>
        <a:srgbClr val="E4E5E3"/>
      </a:lt2>
      <a:accent1>
        <a:srgbClr val="2F5D8A"/>
      </a:accent1>
      <a:accent2>
        <a:srgbClr val="22386B"/>
      </a:accent2>
      <a:accent3>
        <a:srgbClr val="8A9099"/>
      </a:accent3>
      <a:accent4>
        <a:srgbClr val="57606A"/>
      </a:accent4>
      <a:accent5>
        <a:srgbClr val="9AA0A6"/>
      </a:accent5>
      <a:accent6>
        <a:srgbClr val="77797B"/>
      </a:accent6>
      <a:hlink>
        <a:srgbClr val="0563C1"/>
      </a:hlink>
      <a:folHlink>
        <a:srgbClr val="954F72"/>
      </a:folHlink>
    </a:clrScheme>
    <a:fontScheme name="MLOps cho bài toán margin">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MLOps cho bài toán margin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Be Vietnam Pro
Copyright 2021 The Be Vietnam Pro Project Authors (https://github.com/bettergui/BeVietnamPro),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2026-10-26T13:22:30Z</dcterms:created>
  <dcterms:modified xsi:type="dcterms:W3CDTF">2026-10-26T13:22:30Z</dcterms:modified>
</cp:coreProperties>
</file>